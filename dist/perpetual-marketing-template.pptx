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FBB9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E</c:v>
                </c:pt>
                <c:pt idx="1">
                  <c:v>F</c:v>
                </c:pt>
                <c:pt idx="2">
                  <c:v>M</c:v>
                </c:pt>
                <c:pt idx="3">
                  <c:v>A</c:v>
                </c:pt>
                <c:pt idx="4">
                  <c:v>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55</c:v>
                </c:pt>
                <c:pt idx="2">
                  <c:v>48</c:v>
                </c:pt>
                <c:pt idx="3">
                  <c:v>70</c:v>
                </c:pt>
                <c:pt idx="4">
                  <c:v>82</c:v>
                </c:pt>
              </c:numCache>
            </c:numRef>
          </c:val>
        </c:ser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E1EF"/>
            </a:solidFill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  <a:latin typeface="Armin Grotesk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>
          <c:spPr>
            <a:ln w="6350">
              <a:solidFill>
                <a:srgbClr val="DDE1EF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4160520"/>
            <a:ext cx="12191695" cy="269748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914400"/>
            <a:ext cx="2926080" cy="292608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1828800" cy="182880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766560" y="1463040"/>
            <a:ext cx="2743200" cy="274320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0" y="1234440"/>
            <a:ext cx="36118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14181" y="3897172"/>
            <a:ext cx="469544" cy="665683"/>
          </a:xfrm>
          <a:prstGeom prst="roundRect">
            <a:avLst>
              <a:gd name="adj" fmla="val 2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000439" y="3356305"/>
            <a:ext cx="469544" cy="1206550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86696" y="2815437"/>
            <a:ext cx="469544" cy="1747418"/>
          </a:xfrm>
          <a:prstGeom prst="roundRect">
            <a:avLst>
              <a:gd name="adj" fmla="val 20000"/>
            </a:avLst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372953" y="2274570"/>
            <a:ext cx="469544" cy="2288286"/>
          </a:xfrm>
          <a:prstGeom prst="roundRect">
            <a:avLst>
              <a:gd name="adj" fmla="val 2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94776" y="1900123"/>
            <a:ext cx="832104" cy="832104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10156240" y="1816912"/>
            <a:ext cx="665683" cy="665683"/>
          </a:xfrm>
          <a:prstGeom prst="hexagon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23760" y="2743200"/>
            <a:ext cx="822960" cy="82296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0" y="50292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A56DB"/>
                </a:solidFill>
                <a:latin typeface="Armin Grotesk Black"/>
              </a:rPr>
              <a:t>+</a:t>
            </a:r>
          </a:p>
        </p:txBody>
      </p:sp>
      <p:pic>
        <p:nvPicPr>
          <p:cNvPr id="15" name="Picture 14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371600" cy="1640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4360" y="13716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4600" b="0">
                <a:solidFill>
                  <a:srgbClr val="111827"/>
                </a:solidFill>
                <a:latin typeface="Armin Grotesk Black"/>
              </a:rPr>
              <a:t>Marketing para
</a:t>
            </a:r>
            <a:r>
              <a:rPr sz="4600" b="0">
                <a:solidFill>
                  <a:srgbClr val="1A56DB"/>
                </a:solidFill>
                <a:latin typeface="Armin Grotesk Black"/>
              </a:rPr>
              <a:t>tu marca.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004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min Grotesk SemiBold"/>
              </a:rPr>
              <a:t>Estrategia y crecimiento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2044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Convertimos tu marca en resultados medibles con data y creatividad.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8348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98348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spc="80">
                <a:solidFill>
                  <a:srgbClr val="1A56DB"/>
                </a:solidFill>
                <a:latin typeface="Armin Grotesk SemiBold"/>
              </a:rPr>
              <a:t>EMPEZAR</a:t>
            </a:r>
          </a:p>
        </p:txBody>
      </p:sp>
      <p:sp>
        <p:nvSpPr>
          <p:cNvPr id="21" name="Oval 20"/>
          <p:cNvSpPr/>
          <p:nvPr/>
        </p:nvSpPr>
        <p:spPr>
          <a:xfrm>
            <a:off x="2706624" y="507492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50383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Armin Grotesk Black"/>
              </a:rPr>
              <a:t>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Bienvenido a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Perpetual.</a:t>
            </a:r>
          </a:p>
        </p:txBody>
      </p:sp>
      <p:sp>
        <p:nvSpPr>
          <p:cNvPr id="4" name="Oval 3"/>
          <p:cNvSpPr/>
          <p:nvPr/>
        </p:nvSpPr>
        <p:spPr>
          <a:xfrm>
            <a:off x="4754880" y="1737360"/>
            <a:ext cx="1554480" cy="155448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97680" y="1737360"/>
            <a:ext cx="3931920" cy="274320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62702" y="2670048"/>
            <a:ext cx="932688" cy="932688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81597" y="3054096"/>
            <a:ext cx="603504" cy="603504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185001" y="3547872"/>
            <a:ext cx="356616" cy="356616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6735470" y="2395728"/>
            <a:ext cx="466344" cy="466344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41605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160520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FFFFFF"/>
                </a:solidFill>
                <a:latin typeface="Armin Grotesk SemiBold"/>
              </a:rPr>
              <a:t>SOPORTE DE MARKETING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1A56DB"/>
                </a:solidFill>
                <a:latin typeface="Armin Grotesk Black"/>
              </a:rPr>
              <a:t>2.9M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080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60">
                <a:solidFill>
                  <a:srgbClr val="6B7280"/>
                </a:solidFill>
                <a:latin typeface="Armin Grotesk SemiBold"/>
              </a:rPr>
              <a:t>IMPRESIONES GESTIONADAS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32918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Acompanamos a tu equipo de principio a fin: estrategia, ejecucion y medicion en un solo lugar.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103120"/>
            <a:ext cx="3017520" cy="329184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47988" y="4209897"/>
            <a:ext cx="392277" cy="526694"/>
          </a:xfrm>
          <a:prstGeom prst="roundRect">
            <a:avLst>
              <a:gd name="adj" fmla="val 2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21316" y="3781958"/>
            <a:ext cx="392277" cy="954633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194645" y="3354019"/>
            <a:ext cx="392277" cy="1382572"/>
          </a:xfrm>
          <a:prstGeom prst="roundRect">
            <a:avLst>
              <a:gd name="adj" fmla="val 20000"/>
            </a:avLst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767974" y="2926079"/>
            <a:ext cx="392277" cy="1810512"/>
          </a:xfrm>
          <a:prstGeom prst="roundRect">
            <a:avLst>
              <a:gd name="adj" fmla="val 2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98864" y="2629814"/>
            <a:ext cx="658368" cy="658368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10586923" y="2563977"/>
            <a:ext cx="526694" cy="526694"/>
          </a:xfrm>
          <a:prstGeom prst="hexagon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11827"/>
                </a:solidFill>
                <a:latin typeface="Armin Grotesk Black"/>
              </a:rPr>
              <a:t>Conoce a nuestro
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equipo.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249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1406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Ana Rojas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MARKETING LEAD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251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408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Luis Vega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DATA ANALYST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3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410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Mara Diaz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CREATIVE DIR.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870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255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412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870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Iván Soto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GROWTH</a:t>
            </a:r>
          </a:p>
        </p:txBody>
      </p:sp>
      <p:sp>
        <p:nvSpPr>
          <p:cNvPr id="24" name="Oval 23"/>
          <p:cNvSpPr/>
          <p:nvPr/>
        </p:nvSpPr>
        <p:spPr>
          <a:xfrm>
            <a:off x="10881360" y="4754880"/>
            <a:ext cx="914400" cy="91440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20624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7280"/>
                </a:solidFill>
                <a:latin typeface="Armin Grotesk"/>
              </a:rPr>
              <a:t>Un equipo multidisciplinario enfocado en resultados, no en vanity metrics.</a:t>
            </a:r>
          </a:p>
        </p:txBody>
      </p:sp>
      <p:pic>
        <p:nvPicPr>
          <p:cNvPr id="26" name="Picture 25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11827"/>
                </a:solidFill>
                <a:latin typeface="Armin Grotesk Black"/>
              </a:rPr>
              <a:t>Sobre el trabajo
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actual.</a:t>
            </a:r>
          </a:p>
        </p:txBody>
      </p:sp>
      <p:sp>
        <p:nvSpPr>
          <p:cNvPr id="4" name="Oval 3"/>
          <p:cNvSpPr/>
          <p:nvPr/>
        </p:nvSpPr>
        <p:spPr>
          <a:xfrm>
            <a:off x="6126480" y="1188720"/>
            <a:ext cx="2743200" cy="274320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0" y="1371600"/>
            <a:ext cx="3108960" cy="219456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33411" y="2117750"/>
            <a:ext cx="746150" cy="7461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7188" y="2424988"/>
            <a:ext cx="482803" cy="48280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41740" y="2820009"/>
            <a:ext cx="285292" cy="285292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876995" y="1898294"/>
            <a:ext cx="373075" cy="373075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31089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35624" y="4454956"/>
            <a:ext cx="404164" cy="336499"/>
          </a:xfrm>
          <a:prstGeom prst="roundRect">
            <a:avLst>
              <a:gd name="adj" fmla="val 2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26326" y="4181551"/>
            <a:ext cx="404164" cy="609904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7028" y="3908145"/>
            <a:ext cx="404164" cy="883310"/>
          </a:xfrm>
          <a:prstGeom prst="roundRect">
            <a:avLst>
              <a:gd name="adj" fmla="val 20000"/>
            </a:avLst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07731" y="3634740"/>
            <a:ext cx="404164" cy="1156716"/>
          </a:xfrm>
          <a:prstGeom prst="roundRect">
            <a:avLst>
              <a:gd name="adj" fmla="val 2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91072" y="3445459"/>
            <a:ext cx="420623" cy="420623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7721193" y="3403396"/>
            <a:ext cx="336499" cy="336499"/>
          </a:xfrm>
          <a:prstGeom prst="hexagon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69680" y="4023360"/>
            <a:ext cx="1737360" cy="17373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0" y="44805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7696" y="4480560"/>
            <a:ext cx="1554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spc="80">
                <a:solidFill>
                  <a:srgbClr val="FFFFFF"/>
                </a:solidFill>
                <a:latin typeface="Armin Grotesk SemiBold"/>
              </a:rPr>
              <a:t>NUEVA VIA DEL EXITO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56032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7280"/>
                </a:solidFill>
                <a:latin typeface="Armin Grotesk"/>
              </a:rPr>
              <a:t>Cada cuenta tiene un plan vivo: lo medimos cada semana y ajustamos con base en datos.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97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56DB"/>
                </a:solidFill>
                <a:latin typeface="Armin Grotesk SemiBold"/>
              </a:rPr>
              <a:t>Auditoria y diagnostico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56DB"/>
                </a:solidFill>
                <a:latin typeface="Armin Grotesk SemiBold"/>
              </a:rPr>
              <a:t>Plan de medios y contenido</a:t>
            </a:r>
          </a:p>
        </p:txBody>
      </p:sp>
      <p:pic>
        <p:nvPicPr>
          <p:cNvPr id="23" name="Picture 22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Lo que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ofrecemos.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9144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Servicios end to end para que tu marca crezca con foco en retorno.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383280" cy="356616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19" y="26974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1097280" y="2834640"/>
            <a:ext cx="365760" cy="365760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FFFFF"/>
                </a:solidFill>
                <a:latin typeface="Armin Grotesk SemiBold"/>
              </a:rPr>
              <a:t>SEO y contenido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0560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Armin Grotesk"/>
              </a:rPr>
              <a:t>Estrategia, ejecucion y reporte claro de cada iniciativa.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377440"/>
            <a:ext cx="3383280" cy="356616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09159" y="26974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4846320" y="2834640"/>
            <a:ext cx="365760" cy="365760"/>
          </a:xfrm>
          <a:prstGeom prst="hexagon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36576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FFFFF"/>
                </a:solidFill>
                <a:latin typeface="Armin Grotesk SemiBold"/>
              </a:rPr>
              <a:t>Performance 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480560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Armin Grotesk"/>
              </a:rPr>
              <a:t>Estrategia, ejecucion y reporte claro de cada iniciativa.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2377440"/>
            <a:ext cx="3383280" cy="356616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199" y="26974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8595359" y="2834640"/>
            <a:ext cx="365760" cy="365760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19" y="36576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FFFFF"/>
                </a:solidFill>
                <a:latin typeface="Armin Grotesk SemiBold"/>
              </a:rPr>
              <a:t>Brand y creatividad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4480560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Armin Grotesk"/>
              </a:rPr>
              <a:t>Estrategia, ejecucion y reporte claro de cada iniciativa.</a:t>
            </a:r>
          </a:p>
        </p:txBody>
      </p:sp>
      <p:pic>
        <p:nvPicPr>
          <p:cNvPr id="20" name="Picture 19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Tendencias de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mercado.</a:t>
            </a:r>
          </a:p>
        </p:txBody>
      </p:sp>
      <p:sp>
        <p:nvSpPr>
          <p:cNvPr id="4" name="Oval 3"/>
          <p:cNvSpPr/>
          <p:nvPr/>
        </p:nvSpPr>
        <p:spPr>
          <a:xfrm>
            <a:off x="2743200" y="2468880"/>
            <a:ext cx="2651760" cy="26517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2926080"/>
            <a:ext cx="2286000" cy="228600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38328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>
                <a:solidFill>
                  <a:srgbClr val="FFFFFF"/>
                </a:solidFill>
                <a:latin typeface="Armin Grotesk Black"/>
              </a:rPr>
              <a:t>3.8M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36576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Armin Grotesk Black"/>
              </a:rPr>
              <a:t>40.5K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280"/>
                </a:solidFill>
                <a:latin typeface="Armin Grotesk SemiBold"/>
              </a:rPr>
              <a:t>ALCANCE
MENSUAL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31089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280"/>
                </a:solidFill>
                <a:latin typeface="Armin Grotesk SemiBold"/>
              </a:rPr>
              <a:t>NUEVOS
SEGUIDORES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595360" y="2377440"/>
          <a:ext cx="301752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Picture 10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Nuestras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soluciones.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91440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Dos frentes de trabajo que se refuerzan entre si.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0881360" cy="141732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min Grotesk Black"/>
              </a:rPr>
              <a:t>O1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743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min Grotesk SemiBold"/>
              </a:rPr>
              <a:t>Adquisicion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15468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BE4FF"/>
                </a:solidFill>
                <a:latin typeface="Armin Grotesk"/>
              </a:rPr>
              <a:t>Campanas de performance optimizadas a costo por resultado.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10881360" cy="141732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min Grotesk Black"/>
              </a:rPr>
              <a:t>O2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434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min Grotesk SemiBold"/>
              </a:rPr>
              <a:t>Retencion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84632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BE4FF"/>
                </a:solidFill>
                <a:latin typeface="Armin Grotesk"/>
              </a:rPr>
              <a:t>Contenido y automatizaciones que sostienen el crecimiento.</a:t>
            </a:r>
          </a:p>
        </p:txBody>
      </p:sp>
      <p:pic>
        <p:nvPicPr>
          <p:cNvPr id="13" name="Picture 12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Herramientas de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marketing.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2651760"/>
            <a:ext cx="1280160" cy="128016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111556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Audio social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8" name="Oval 7"/>
          <p:cNvSpPr/>
          <p:nvPr/>
        </p:nvSpPr>
        <p:spPr>
          <a:xfrm>
            <a:off x="2971800" y="2651760"/>
            <a:ext cx="1280160" cy="12801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335584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SEO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12" name="Oval 11"/>
          <p:cNvSpPr/>
          <p:nvPr/>
        </p:nvSpPr>
        <p:spPr>
          <a:xfrm>
            <a:off x="5212080" y="2651760"/>
            <a:ext cx="1280160" cy="128016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559612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Video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16" name="Oval 15"/>
          <p:cNvSpPr/>
          <p:nvPr/>
        </p:nvSpPr>
        <p:spPr>
          <a:xfrm>
            <a:off x="7452360" y="2651760"/>
            <a:ext cx="1280160" cy="128016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783640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Social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20" name="Oval 19"/>
          <p:cNvSpPr/>
          <p:nvPr/>
        </p:nvSpPr>
        <p:spPr>
          <a:xfrm>
            <a:off x="9692640" y="2651760"/>
            <a:ext cx="1280160" cy="128016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1007668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Automatizacion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pic>
        <p:nvPicPr>
          <p:cNvPr id="24" name="Picture 23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Opiniones de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clientes.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96012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A56DB"/>
                </a:solidFill>
                <a:latin typeface="Armin Grotesk Black"/>
              </a:rPr>
              <a:t>4,890 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0" y="91440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976579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0" b="0">
                <a:solidFill>
                  <a:srgbClr val="1A56DB"/>
                </a:solidFill>
                <a:latin typeface="Armin Grotesk Black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2841955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BB900"/>
                </a:solidFill>
                <a:latin typeface="Armin Grotesk"/>
              </a:rPr>
              <a:t>★ ★ ★ ★ ★</a:t>
            </a:r>
          </a:p>
        </p:txBody>
      </p:sp>
      <p:sp>
        <p:nvSpPr>
          <p:cNvPr id="8" name="Oval 7"/>
          <p:cNvSpPr/>
          <p:nvPr/>
        </p:nvSpPr>
        <p:spPr>
          <a:xfrm>
            <a:off x="11155680" y="3291840"/>
            <a:ext cx="914400" cy="91440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7772400" cy="1234440"/>
          </a:xfrm>
          <a:prstGeom prst="roundRect">
            <a:avLst>
              <a:gd name="adj" fmla="val 10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788920"/>
            <a:ext cx="594360" cy="5943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269748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74151"/>
                </a:solidFill>
                <a:latin typeface="Armin Grotesk"/>
              </a:rPr>
              <a:t>El equipo entiende el negocio y entrega resultados claros mes a 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7772400" cy="1234440"/>
          </a:xfrm>
          <a:prstGeom prst="roundRect">
            <a:avLst>
              <a:gd name="adj" fmla="val 10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4206240"/>
            <a:ext cx="594360" cy="59436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411480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Armin Grotesk"/>
              </a:rPr>
              <a:t>El equipo entiende el negocio y entrega resultados claros mes a mes.</a:t>
            </a:r>
          </a:p>
        </p:txBody>
      </p:sp>
      <p:pic>
        <p:nvPicPr>
          <p:cNvPr id="15" name="Picture 14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Nueva via del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exito.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2926080" cy="329184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83817" y="3588105"/>
            <a:ext cx="1119225" cy="1119225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90902" y="4048963"/>
            <a:ext cx="724204" cy="724204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44598" y="4641494"/>
            <a:ext cx="427939" cy="427939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2454249" y="3258921"/>
            <a:ext cx="559612" cy="559612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023360" y="2377440"/>
            <a:ext cx="777240" cy="77724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4261104" y="261518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41401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67004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Diagnostico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3035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sp>
        <p:nvSpPr>
          <p:cNvPr id="14" name="Oval 13"/>
          <p:cNvSpPr/>
          <p:nvPr/>
        </p:nvSpPr>
        <p:spPr>
          <a:xfrm>
            <a:off x="7589520" y="2377440"/>
            <a:ext cx="777240" cy="77724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7827264" y="261518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41401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7004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Estrategia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3035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0" y="4114800"/>
            <a:ext cx="777240" cy="77724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4261104" y="435254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4151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4407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Ejecucion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47731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sp>
        <p:nvSpPr>
          <p:cNvPr id="24" name="Oval 23"/>
          <p:cNvSpPr/>
          <p:nvPr/>
        </p:nvSpPr>
        <p:spPr>
          <a:xfrm>
            <a:off x="7589520" y="4114800"/>
            <a:ext cx="777240" cy="77724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7827264" y="435254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9640" y="4151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407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Optimizacion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47731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pic>
        <p:nvPicPr>
          <p:cNvPr id="29" name="Picture 28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11827"/>
                </a:solidFill>
                <a:latin typeface="Armin Grotesk Black"/>
              </a:rPr>
              <a:t>Plan de estrategia
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de marketing.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097280"/>
            <a:ext cx="4754880" cy="91440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20840" y="109728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min Grotesk SemiBold"/>
              </a:rPr>
              <a:t>Objetivos y KPIs del trimestre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2286000"/>
            <a:ext cx="4206240" cy="914400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2286000"/>
            <a:ext cx="3566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min Grotesk SemiBold"/>
              </a:rPr>
              <a:t>Mensajes y audiencias clave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347472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347472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min Grotesk SemiBold"/>
              </a:rPr>
              <a:t>Mezcla de canales y presupuesto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66344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466344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74151"/>
                </a:solidFill>
                <a:latin typeface="Armin Grotesk SemiBold"/>
              </a:rPr>
              <a:t>Calendario y responsables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4206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7280"/>
                </a:solidFill>
                <a:latin typeface="Armin Grotesk"/>
              </a:rPr>
              <a:t>Un plan claro, por fases, con metas medibles y duenos definidos en cada etapa.</a:t>
            </a:r>
          </a:p>
        </p:txBody>
      </p:sp>
      <p:pic>
        <p:nvPicPr>
          <p:cNvPr id="13" name="Picture 12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Crece con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394960" cy="4206240"/>
          </a:xfrm>
          <a:prstGeom prst="roundRect">
            <a:avLst>
              <a:gd name="adj" fmla="val 10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192024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min Grotesk Black"/>
              </a:rPr>
              <a:t>+58%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7432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DBE4FF"/>
                </a:solidFill>
                <a:latin typeface="Armin Grotesk"/>
              </a:rPr>
              <a:t>Crecimiento interanual promedio</a:t>
            </a:r>
          </a:p>
        </p:txBody>
      </p:sp>
      <p:sp>
        <p:nvSpPr>
          <p:cNvPr id="7" name="Oval 6"/>
          <p:cNvSpPr/>
          <p:nvPr/>
        </p:nvSpPr>
        <p:spPr>
          <a:xfrm>
            <a:off x="6766560" y="484632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863840" y="448056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0" y="457200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0" y="402336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0" y="365760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1A56DB"/>
                </a:solidFill>
                <a:latin typeface="Armin Grotesk Black"/>
              </a:rPr>
              <a:t>100K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6796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60">
                <a:solidFill>
                  <a:srgbClr val="6B7280"/>
                </a:solidFill>
                <a:latin typeface="Armin Grotesk SemiBold"/>
              </a:rPr>
              <a:t>LEADS GENERADOS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111827"/>
                </a:solidFill>
                <a:latin typeface="Armin Grotesk Black"/>
              </a:rPr>
              <a:t>0.2M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3100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60">
                <a:solidFill>
                  <a:srgbClr val="6B7280"/>
                </a:solidFill>
                <a:latin typeface="Armin Grotesk SemiBold"/>
              </a:rPr>
              <a:t>VENTAS ATRIBUIDAS</a:t>
            </a:r>
          </a:p>
        </p:txBody>
      </p:sp>
      <p:sp>
        <p:nvSpPr>
          <p:cNvPr id="16" name="Oval 15"/>
          <p:cNvSpPr/>
          <p:nvPr/>
        </p:nvSpPr>
        <p:spPr>
          <a:xfrm>
            <a:off x="4480560" y="1371600"/>
            <a:ext cx="640080" cy="64008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7432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731520"/>
            <a:ext cx="2011680" cy="201168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1645920"/>
            <a:ext cx="1280160" cy="12801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petual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371600" cy="1640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1463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46304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spc="80">
                <a:solidFill>
                  <a:srgbClr val="1A56DB"/>
                </a:solidFill>
                <a:latin typeface="Armin Grotesk SemiBold"/>
              </a:rPr>
              <a:t>EMPEZAR</a:t>
            </a:r>
          </a:p>
        </p:txBody>
      </p:sp>
      <p:sp>
        <p:nvSpPr>
          <p:cNvPr id="8" name="Oval 7"/>
          <p:cNvSpPr/>
          <p:nvPr/>
        </p:nvSpPr>
        <p:spPr>
          <a:xfrm>
            <a:off x="2706624" y="155448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151790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Armin Grotesk Black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41732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min Grotesk SemiBold"/>
              </a:rPr>
              <a:t>Hablemos de tu proxima campana.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83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111827"/>
                </a:solidFill>
                <a:latin typeface="Armin Grotesk Black"/>
              </a:rPr>
              <a:t>Contac</a:t>
            </a:r>
            <a:r>
              <a:rPr sz="4000" b="0">
                <a:solidFill>
                  <a:srgbClr val="1A56DB"/>
                </a:solidFill>
                <a:latin typeface="Armin Grotesk Black"/>
              </a:rPr>
              <a:t>tanos.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56DB"/>
                </a:solidFill>
                <a:latin typeface="Armin Grotesk SemiBold"/>
              </a:rPr>
              <a:t>CORREO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57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hola@perpetual.pe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937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56DB"/>
                </a:solidFill>
                <a:latin typeface="Armin Grotesk SemiBold"/>
              </a:rPr>
              <a:t>TELEFONO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257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+51 999 999 999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937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56DB"/>
                </a:solidFill>
                <a:latin typeface="Armin Grotesk SemiBold"/>
              </a:rPr>
              <a:t>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59" y="5257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perpetual.pe</a:t>
            </a:r>
          </a:p>
        </p:txBody>
      </p:sp>
      <p:sp>
        <p:nvSpPr>
          <p:cNvPr id="18" name="Oval 17"/>
          <p:cNvSpPr/>
          <p:nvPr/>
        </p:nvSpPr>
        <p:spPr>
          <a:xfrm>
            <a:off x="10789920" y="5120640"/>
            <a:ext cx="914400" cy="91440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