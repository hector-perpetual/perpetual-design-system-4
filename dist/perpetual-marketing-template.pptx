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FBB9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55</c:v>
                </c:pt>
                <c:pt idx="2">
                  <c:v>48</c:v>
                </c:pt>
                <c:pt idx="3">
                  <c:v>70</c:v>
                </c:pt>
                <c:pt idx="4">
                  <c:v>82</c:v>
                </c:pt>
              </c:numCache>
            </c:numRef>
          </c:val>
        </c:ser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1EF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  <a:latin typeface="Armin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1EF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4160520"/>
            <a:ext cx="12191695" cy="26974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2926080" cy="292608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1828800" cy="1828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371600"/>
            <a:ext cx="3017520" cy="301752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7818120" y="2148840"/>
            <a:ext cx="1920240" cy="1920240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278892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4297680"/>
            <a:ext cx="731520" cy="73152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A56DB"/>
                </a:solidFill>
                <a:latin typeface="Armin Grotesk Black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937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97316"/>
                </a:solidFill>
                <a:latin typeface="Armin Grotesk Black"/>
              </a:rPr>
              <a:t>+</a:t>
            </a:r>
          </a:p>
        </p:txBody>
      </p:sp>
      <p:pic>
        <p:nvPicPr>
          <p:cNvPr id="11" name="Picture 10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1600" cy="1640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13716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0">
                <a:solidFill>
                  <a:srgbClr val="111827"/>
                </a:solidFill>
                <a:latin typeface="Armin Grotesk Black"/>
              </a:rPr>
              <a:t>Marketing para
</a:t>
            </a:r>
            <a:r>
              <a:rPr sz="4600" b="0">
                <a:solidFill>
                  <a:srgbClr val="1A56DB"/>
                </a:solidFill>
                <a:latin typeface="Armin Grotesk Black"/>
              </a:rPr>
              <a:t>tu marca.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min Grotesk SemiBold"/>
              </a:rPr>
              <a:t>Estrategia y crecimiento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280"/>
                </a:solidFill>
                <a:latin typeface="Armin Grotesk"/>
              </a:rPr>
              <a:t>Convertimos tu marca en resultados medibles con data y creatividad.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98348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spc="80">
                <a:solidFill>
                  <a:srgbClr val="1A56DB"/>
                </a:solidFill>
                <a:latin typeface="Armin Grotesk SemiBold"/>
              </a:rPr>
              <a:t>EMPEZAR</a:t>
            </a:r>
          </a:p>
        </p:txBody>
      </p:sp>
      <p:sp>
        <p:nvSpPr>
          <p:cNvPr id="17" name="Oval 16"/>
          <p:cNvSpPr/>
          <p:nvPr/>
        </p:nvSpPr>
        <p:spPr>
          <a:xfrm>
            <a:off x="2706624" y="507492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5038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min Grotesk Black"/>
              </a:rPr>
              <a:t>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Bienvenido a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Perpetual.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1737360"/>
            <a:ext cx="1554480" cy="1554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62702" y="2670048"/>
            <a:ext cx="932688" cy="932688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81597" y="3054096"/>
            <a:ext cx="603504" cy="6035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5001" y="3547872"/>
            <a:ext cx="356616" cy="356616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6735470" y="2395728"/>
            <a:ext cx="466344" cy="466344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41605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16052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FFFFFF"/>
                </a:solidFill>
                <a:latin typeface="Armin Grotesk SemiBold"/>
              </a:rPr>
              <a:t>SOPORTE DE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1A56DB"/>
                </a:solidFill>
                <a:latin typeface="Armin Grotesk Black"/>
              </a:rPr>
              <a:t>2.9M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80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6B7280"/>
                </a:solidFill>
                <a:latin typeface="Armin Grotesk SemiBold"/>
              </a:rPr>
              <a:t>IMPRESIONES GESTIONADAS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280"/>
                </a:solidFill>
                <a:latin typeface="Armin Grotesk"/>
              </a:rPr>
              <a:t>Acompanamos a tu equipo de principio a fin: estrategia, ejecucion y medicion en un solo lugar.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103120"/>
            <a:ext cx="3017520" cy="3291840"/>
          </a:xfrm>
          <a:prstGeom prst="roundRect">
            <a:avLst>
              <a:gd name="adj" fmla="val 6000"/>
            </a:avLst>
          </a:prstGeom>
          <a:solidFill>
            <a:srgbClr val="FD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59214" y="3222345"/>
            <a:ext cx="1119225" cy="1119225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94645" y="3683203"/>
            <a:ext cx="724204" cy="7242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43769" y="4275734"/>
            <a:ext cx="427939" cy="427939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10466222" y="2893161"/>
            <a:ext cx="559612" cy="559612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11827"/>
                </a:solidFill>
                <a:latin typeface="Armin Grotesk Black"/>
              </a:rPr>
              <a:t>Conoce a nuestro
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equipo.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463040"/>
            <a:ext cx="1417320" cy="201168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24981" y="2298801"/>
            <a:ext cx="340156" cy="3401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40634" y="2414454"/>
            <a:ext cx="108850" cy="10885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3566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rmin Grotesk SemiBold"/>
              </a:rPr>
              <a:t>Ana Rojas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8404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A56DB"/>
                </a:solidFill>
                <a:latin typeface="Armin Grotesk SemiBold"/>
              </a:rPr>
              <a:t>MARKETING 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463040"/>
            <a:ext cx="1417320" cy="2011680"/>
          </a:xfrm>
          <a:prstGeom prst="roundRect">
            <a:avLst>
              <a:gd name="adj" fmla="val 6000"/>
            </a:avLst>
          </a:prstGeom>
          <a:solidFill>
            <a:srgbClr val="FD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25181" y="2298801"/>
            <a:ext cx="340156" cy="3401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40834" y="2414454"/>
            <a:ext cx="108850" cy="10885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566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rmin Grotesk SemiBold"/>
              </a:rPr>
              <a:t>Luis Vega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8404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A56DB"/>
                </a:solidFill>
                <a:latin typeface="Armin Grotesk SemiBold"/>
              </a:rPr>
              <a:t>DATA ANALYST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463040"/>
            <a:ext cx="1417320" cy="201168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5381" y="2298801"/>
            <a:ext cx="340156" cy="3401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41034" y="2414454"/>
            <a:ext cx="108850" cy="10885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rmin Grotesk SemiBold"/>
              </a:rPr>
              <a:t>Mara Diaz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8404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A56DB"/>
                </a:solidFill>
                <a:latin typeface="Armin Grotesk SemiBold"/>
              </a:rPr>
              <a:t>CREATIVE DIR.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1463040"/>
            <a:ext cx="1417320" cy="2011680"/>
          </a:xfrm>
          <a:prstGeom prst="roundRect">
            <a:avLst>
              <a:gd name="adj" fmla="val 6000"/>
            </a:avLst>
          </a:prstGeom>
          <a:solidFill>
            <a:srgbClr val="FD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5581" y="2298801"/>
            <a:ext cx="340156" cy="3401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1234" y="2414454"/>
            <a:ext cx="108850" cy="10885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3566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rmin Grotesk SemiBold"/>
              </a:rPr>
              <a:t>Iván Soto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38404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A56DB"/>
                </a:solidFill>
                <a:latin typeface="Armin Grotesk SemiBold"/>
              </a:rPr>
              <a:t>GROWTH</a:t>
            </a:r>
          </a:p>
        </p:txBody>
      </p:sp>
      <p:sp>
        <p:nvSpPr>
          <p:cNvPr id="24" name="Oval 23"/>
          <p:cNvSpPr/>
          <p:nvPr/>
        </p:nvSpPr>
        <p:spPr>
          <a:xfrm>
            <a:off x="10881360" y="4754880"/>
            <a:ext cx="914400" cy="91440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7280"/>
                </a:solidFill>
                <a:latin typeface="Armin Grotesk"/>
              </a:rPr>
              <a:t>Un equipo multidisciplinario enfocado en resultados, no en vanity metrics.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11827"/>
                </a:solidFill>
                <a:latin typeface="Armin Grotesk Black"/>
              </a:rPr>
              <a:t>Sobre el trabajo
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actual.</a:t>
            </a:r>
          </a:p>
        </p:txBody>
      </p:sp>
      <p:sp>
        <p:nvSpPr>
          <p:cNvPr id="4" name="Oval 3"/>
          <p:cNvSpPr/>
          <p:nvPr/>
        </p:nvSpPr>
        <p:spPr>
          <a:xfrm>
            <a:off x="6126480" y="1188720"/>
            <a:ext cx="2743200" cy="274320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13716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3411" y="2117750"/>
            <a:ext cx="746150" cy="74615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7188" y="2424988"/>
            <a:ext cx="482803" cy="48280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41740" y="2820009"/>
            <a:ext cx="285292" cy="285292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876995" y="1898294"/>
            <a:ext cx="373075" cy="373075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3108960"/>
            <a:ext cx="3108960" cy="2103120"/>
          </a:xfrm>
          <a:prstGeom prst="roundRect">
            <a:avLst>
              <a:gd name="adj" fmla="val 6000"/>
            </a:avLst>
          </a:prstGeom>
          <a:solidFill>
            <a:srgbClr val="FD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3251" y="3824020"/>
            <a:ext cx="715060" cy="71506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7028" y="4118457"/>
            <a:ext cx="462686" cy="46268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61580" y="4497019"/>
            <a:ext cx="273405" cy="273405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7596835" y="3613708"/>
            <a:ext cx="357530" cy="357530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0" y="4023360"/>
            <a:ext cx="1737360" cy="17373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44805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4480560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spc="80">
                <a:solidFill>
                  <a:srgbClr val="FFFFFF"/>
                </a:solidFill>
                <a:latin typeface="Armin Grotesk SemiBold"/>
              </a:rPr>
              <a:t>NUEVA VIA DEL EXITO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7280"/>
                </a:solidFill>
                <a:latin typeface="Armin Grotesk"/>
              </a:rPr>
              <a:t>Cada cuenta tiene un plan vivo: lo medimos cada semana y ajustamos con base en 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56DB"/>
                </a:solidFill>
                <a:latin typeface="Armin Grotesk SemiBold"/>
              </a:rPr>
              <a:t>Auditoria y diagnostico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56DB"/>
                </a:solidFill>
                <a:latin typeface="Armin Grotesk SemiBold"/>
              </a:rPr>
              <a:t>Plan de medios y contenido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Lo que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ofrecemos.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9144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280"/>
                </a:solidFill>
                <a:latin typeface="Armin Grotesk"/>
              </a:rPr>
              <a:t>Servicios end to end para que tu marca crezca con foco en retorno.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697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97280" y="2834640"/>
            <a:ext cx="365760" cy="365760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Armin Grotesk SemiBold"/>
              </a:rPr>
              <a:t>SEO y contenido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min Grotesk"/>
              </a:rPr>
              <a:t>Estrategia, ejecucion y reporte claro de cada iniciativa.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59" y="2697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846320" y="2834640"/>
            <a:ext cx="365760" cy="365760"/>
          </a:xfrm>
          <a:prstGeom prst="hexagon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Armin Grotesk SemiBold"/>
              </a:rPr>
              <a:t>Performance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min Grotesk"/>
              </a:rPr>
              <a:t>Estrategia, ejecucion y reporte claro de cada iniciativa.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37744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199" y="2697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595359" y="2834640"/>
            <a:ext cx="365760" cy="36576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3657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Armin Grotesk SemiBold"/>
              </a:rPr>
              <a:t>Brand y creatividad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4480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min Grotesk"/>
              </a:rPr>
              <a:t>Estrategia, ejecucion y reporte claro de cada iniciativa.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Tendencias de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mercado.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2468880"/>
            <a:ext cx="2651760" cy="26517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2926080"/>
            <a:ext cx="2286000" cy="228600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3832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rmin Grotesk Black"/>
              </a:rPr>
              <a:t>3.8M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657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Armin Grotesk Black"/>
              </a:rPr>
              <a:t>40.5K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rmin Grotesk SemiBold"/>
              </a:rPr>
              <a:t>ALCANCE
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1089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rmin Grotesk SemiBold"/>
              </a:rPr>
              <a:t>NUEVOS
SEGUIDORES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595360" y="2377440"/>
          <a:ext cx="301752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Nuestras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soluciones.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9144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280"/>
                </a:solidFill>
                <a:latin typeface="Armin Grotesk"/>
              </a:rPr>
              <a:t>Dos frentes de trabajo que se refuerzan entre 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rmin Grotesk Black"/>
              </a:rPr>
              <a:t>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min Grotesk SemiBold"/>
              </a:rPr>
              <a:t>Adquisicion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15468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BE4FF"/>
                </a:solidFill>
                <a:latin typeface="Armin Grotesk"/>
              </a:rPr>
              <a:t>Campanas de performance optimizadas a costo por resultado.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rmin Grotesk Black"/>
              </a:rPr>
              <a:t>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min Grotesk SemiBold"/>
              </a:rPr>
              <a:t>Retencion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4632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BE4FF"/>
                </a:solidFill>
                <a:latin typeface="Armin Grotesk"/>
              </a:rPr>
              <a:t>Contenido y automatizaciones que sostienen el crecimiento.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Herramientas de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marketing.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651760"/>
            <a:ext cx="1280160" cy="128016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115568" y="3035808"/>
            <a:ext cx="512063" cy="512063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rmin Grotesk SemiBold"/>
              </a:rPr>
              <a:t>Audio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min Grotesk"/>
              </a:rPr>
              <a:t>Stack y procesos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2651760"/>
            <a:ext cx="1280160" cy="12801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3355848" y="3035808"/>
            <a:ext cx="512063" cy="512063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1148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rmin Grotesk SemiBold"/>
              </a:rPr>
              <a:t>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09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min Grotesk"/>
              </a:rPr>
              <a:t>Stack y procesos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2651760"/>
            <a:ext cx="1280160" cy="128016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5596128" y="3035808"/>
            <a:ext cx="512063" cy="512063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1148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rmin Grotesk SemiBold"/>
              </a:rPr>
              <a:t>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709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min Grotesk"/>
              </a:rPr>
              <a:t>Stack y procesos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2651760"/>
            <a:ext cx="1280160" cy="128016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836408" y="3035808"/>
            <a:ext cx="512063" cy="512063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rmin Grotesk SemiBold"/>
              </a:rPr>
              <a:t>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709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min Grotesk"/>
              </a:rPr>
              <a:t>Stack y procesos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2651760"/>
            <a:ext cx="1280160" cy="128016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10076688" y="3035808"/>
            <a:ext cx="512063" cy="512063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1148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rmin Grotesk SemiBold"/>
              </a:rPr>
              <a:t>Automatizacion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709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min Grotesk"/>
              </a:rPr>
              <a:t>Stack y procesos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Opiniones de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clientes.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56DB"/>
                </a:solidFill>
                <a:latin typeface="Armin Grotesk Black"/>
              </a:rPr>
              <a:t>4,890 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9144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976579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0">
                <a:solidFill>
                  <a:srgbClr val="1A56DB"/>
                </a:solidFill>
                <a:latin typeface="Armin Grotesk Black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841955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BB900"/>
                </a:solidFill>
                <a:latin typeface="Armin Grotesk"/>
              </a:rPr>
              <a:t>★ ★ ★ ★ ★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3291840"/>
            <a:ext cx="914400" cy="91440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7772400" cy="123444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88920"/>
            <a:ext cx="594360" cy="5943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latin typeface="Armin Grotesk"/>
              </a:rPr>
              <a:t>El equipo entiende el negocio y entrega resultados claros mes a 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7772400" cy="1234440"/>
          </a:xfrm>
          <a:prstGeom prst="roundRect">
            <a:avLst>
              <a:gd name="adj" fmla="val 10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41148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Armin Grotesk"/>
              </a:rPr>
              <a:t>El equipo entiende el negocio y entrega resultados claros mes a 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Nueva via del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exito.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926080" cy="3291840"/>
          </a:xfrm>
          <a:prstGeom prst="roundRect">
            <a:avLst>
              <a:gd name="adj" fmla="val 6000"/>
            </a:avLst>
          </a:prstGeom>
          <a:solidFill>
            <a:srgbClr val="D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3817" y="3588105"/>
            <a:ext cx="1119225" cy="1119225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0902" y="4048963"/>
            <a:ext cx="724204" cy="7242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44598" y="4641494"/>
            <a:ext cx="427939" cy="427939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2454249" y="3258921"/>
            <a:ext cx="559612" cy="559612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3360" y="2377440"/>
            <a:ext cx="777240" cy="77724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4261104" y="2615184"/>
            <a:ext cx="310896" cy="31089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4140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6700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Diagnostico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035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Paso del proceso con foco en dato.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37744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7827264" y="2615184"/>
            <a:ext cx="310896" cy="31089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4140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O3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700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Estrategia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35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Paso del proceso con foco en dato.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0" y="4114800"/>
            <a:ext cx="777240" cy="77724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4261104" y="4352544"/>
            <a:ext cx="310896" cy="31089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4151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4074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Ejecucion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731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Paso del proceso con foco en dato.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0" y="4114800"/>
            <a:ext cx="777240" cy="77724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7827264" y="4352544"/>
            <a:ext cx="310896" cy="31089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151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O5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4074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Optimizacion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7731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Paso del proceso con foco en dato.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11827"/>
                </a:solidFill>
                <a:latin typeface="Armin Grotesk Black"/>
              </a:rPr>
              <a:t>Plan de estrategia
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de marketing.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0972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min Grotesk SemiBold"/>
              </a:rPr>
              <a:t>Objetivos y KPIs del trimestre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2860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2286000"/>
            <a:ext cx="356615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min Grotesk SemiBold"/>
              </a:rPr>
              <a:t>Mensajes y audiencias clave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47472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347472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min Grotesk SemiBold"/>
              </a:rPr>
              <a:t>Mezcla de canales y presupuesto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46634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46634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Armin Grotesk SemiBold"/>
              </a:rPr>
              <a:t>Calendario y responsables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7280"/>
                </a:solidFill>
                <a:latin typeface="Armin Grotesk"/>
              </a:rPr>
              <a:t>Un plan claro, por fases, con metas medibles y duenos definidos en cada etapa.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051560" cy="12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Crece con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0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9202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min Grotesk Black"/>
              </a:rPr>
              <a:t>+58%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BE4FF"/>
                </a:solidFill>
                <a:latin typeface="Armin Grotesk"/>
              </a:rPr>
              <a:t>Crecimiento interanual promedio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4846320"/>
            <a:ext cx="146304" cy="146304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4480560"/>
            <a:ext cx="146304" cy="146304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4572000"/>
            <a:ext cx="146304" cy="146304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4023360"/>
            <a:ext cx="146304" cy="146304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3657600"/>
            <a:ext cx="146304" cy="146304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1A56DB"/>
                </a:solidFill>
                <a:latin typeface="Armin Grotesk Black"/>
              </a:rPr>
              <a:t>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796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6B7280"/>
                </a:solidFill>
                <a:latin typeface="Armin Grotesk SemiBold"/>
              </a:rPr>
              <a:t>LEADS GENERADOS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111827"/>
                </a:solidFill>
                <a:latin typeface="Armin Grotesk Black"/>
              </a:rPr>
              <a:t>0.2M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3100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6B7280"/>
                </a:solidFill>
                <a:latin typeface="Armin Grotesk SemiBold"/>
              </a:rPr>
              <a:t>VENTAS ATRIBUIDAS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1371600"/>
            <a:ext cx="640080" cy="64008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011680" cy="2011680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1645920"/>
            <a:ext cx="1280160" cy="12801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petu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371600" cy="1640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463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46304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spc="80">
                <a:solidFill>
                  <a:srgbClr val="1A56DB"/>
                </a:solidFill>
                <a:latin typeface="Armin Grotesk SemiBold"/>
              </a:rPr>
              <a:t>EMPEZAR</a:t>
            </a:r>
          </a:p>
        </p:txBody>
      </p:sp>
      <p:sp>
        <p:nvSpPr>
          <p:cNvPr id="8" name="Oval 7"/>
          <p:cNvSpPr/>
          <p:nvPr/>
        </p:nvSpPr>
        <p:spPr>
          <a:xfrm>
            <a:off x="2706624" y="15544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5179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min Grotesk Black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min Grotesk SemiBold"/>
              </a:rPr>
              <a:t>Hablemos de tu proxima campana.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111827"/>
                </a:solidFill>
                <a:latin typeface="Armin Grotesk Black"/>
              </a:rPr>
              <a:t>Contac</a:t>
            </a:r>
            <a:r>
              <a:rPr sz="4000" b="0">
                <a:solidFill>
                  <a:srgbClr val="1A56DB"/>
                </a:solidFill>
                <a:latin typeface="Armin Grotesk Black"/>
              </a:rPr>
              <a:t>tanos.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56DB"/>
                </a:solidFill>
                <a:latin typeface="Armin Grotesk SemiBold"/>
              </a:rPr>
              <a:t>CORREO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hola@perpetual.pe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937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56DB"/>
                </a:solidFill>
                <a:latin typeface="Armin Grotesk SemiBold"/>
              </a:rPr>
              <a:t>TELEFONO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257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+51 999 999 999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937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56DB"/>
                </a:solidFill>
                <a:latin typeface="Armin Grotesk SemiBold"/>
              </a:rPr>
              <a:t>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5257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perpetual.pe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0" y="512064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