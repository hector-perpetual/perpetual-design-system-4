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</c:v>
                </c:pt>
              </c:strCache>
            </c:strRef>
          </c:tx>
          <c:spPr>
            <a:solidFill>
              <a:srgbClr val="FBB900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E</c:v>
                </c:pt>
                <c:pt idx="1">
                  <c:v>F</c:v>
                </c:pt>
                <c:pt idx="2">
                  <c:v>M</c:v>
                </c:pt>
                <c:pt idx="3">
                  <c:v>A</c:v>
                </c:pt>
                <c:pt idx="4">
                  <c:v>M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40</c:v>
                </c:pt>
                <c:pt idx="1">
                  <c:v>55</c:v>
                </c:pt>
                <c:pt idx="2">
                  <c:v>48</c:v>
                </c:pt>
                <c:pt idx="3">
                  <c:v>70</c:v>
                </c:pt>
                <c:pt idx="4">
                  <c:v>82</c:v>
                </c:pt>
              </c:numCache>
            </c:numRef>
          </c:val>
        </c:ser>
        <c:gapWidth val="55"/>
        <c:overlap val="-2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DDE1EF"/>
            </a:solidFill>
          </a:ln>
        </c:spPr>
        <c:txPr>
          <a:bodyPr/>
          <a:lstStyle/>
          <a:p>
            <a:pPr>
              <a:defRPr sz="900">
                <a:solidFill>
                  <a:srgbClr val="6B7280"/>
                </a:solidFill>
                <a:latin typeface="Armin Grotesk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Gridlines>
          <c:spPr>
            <a:ln w="6350">
              <a:solidFill>
                <a:srgbClr val="DDE1EF"/>
              </a:solidFill>
            </a:ln>
          </c:spPr>
        </c:majorGridlines>
        <c:majorTickMark val="none"/>
        <c:minorTickMark val="none"/>
        <c:tickLblPos val="nextTo"/>
        <c:txPr>
          <a:bodyPr/>
          <a:lstStyle/>
          <a:p>
            <a:pPr>
              <a:defRPr sz="900">
                <a:solidFill>
                  <a:srgbClr val="6B7280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4160520"/>
            <a:ext cx="12191695" cy="2697480"/>
          </a:xfrm>
          <a:prstGeom prst="roundRect">
            <a:avLst>
              <a:gd name="adj" fmla="val 0"/>
            </a:avLst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914400"/>
            <a:ext cx="2926080" cy="2926080"/>
          </a:xfrm>
          <a:prstGeom prst="ellipse">
            <a:avLst/>
          </a:prstGeom>
          <a:solidFill>
            <a:srgbClr val="FB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1828800" cy="1828800"/>
          </a:xfrm>
          <a:prstGeom prst="ellipse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766560" y="1463040"/>
            <a:ext cx="2743200" cy="2743200"/>
          </a:xfrm>
          <a:prstGeom prst="ellipse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406640" y="457200"/>
            <a:ext cx="4297680" cy="5852160"/>
          </a:xfrm>
          <a:prstGeom prst="roundRect">
            <a:avLst>
              <a:gd name="adj" fmla="val 5000"/>
            </a:avLst>
          </a:prstGeom>
          <a:solidFill>
            <a:srgbClr val="DBE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039758" y="2867558"/>
            <a:ext cx="1031443" cy="103144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90449" y="3218249"/>
            <a:ext cx="330061" cy="330061"/>
          </a:xfrm>
          <a:prstGeom prst="ellipse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223760" y="2743200"/>
            <a:ext cx="822960" cy="822960"/>
          </a:xfrm>
          <a:prstGeom prst="ellipse">
            <a:avLst/>
          </a:prstGeom>
          <a:solidFill>
            <a:srgbClr val="FB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247120" y="502920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>
                <a:solidFill>
                  <a:srgbClr val="1A56DB"/>
                </a:solidFill>
                <a:latin typeface="Armin Grotesk Black"/>
              </a:rPr>
              <a:t>+</a:t>
            </a:r>
          </a:p>
        </p:txBody>
      </p:sp>
      <p:pic>
        <p:nvPicPr>
          <p:cNvPr id="11" name="Picture 10" descr="perpetu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371600" cy="1640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94360" y="1371600"/>
            <a:ext cx="64008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4600" b="0">
                <a:solidFill>
                  <a:srgbClr val="111827"/>
                </a:solidFill>
                <a:latin typeface="Armin Grotesk Black"/>
              </a:rPr>
              <a:t>Marketing para
</a:t>
            </a:r>
            <a:r>
              <a:rPr sz="4600" b="0">
                <a:solidFill>
                  <a:srgbClr val="1A56DB"/>
                </a:solidFill>
                <a:latin typeface="Armin Grotesk Black"/>
              </a:rPr>
              <a:t>tu marca.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20040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Armin Grotesk SemiBold"/>
              </a:rPr>
              <a:t>Estrategia y crecimiento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520440"/>
            <a:ext cx="5486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6B7280"/>
                </a:solidFill>
                <a:latin typeface="Armin Grotesk"/>
              </a:rPr>
              <a:t>Convertimos tu marca en resultados medibles con data y creatividad.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983480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152400" dist="38100" dir="5400000" rotWithShape="0">
              <a:srgbClr val="1A2B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0976" y="4983480"/>
            <a:ext cx="18288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spc="80">
                <a:solidFill>
                  <a:srgbClr val="1A56DB"/>
                </a:solidFill>
                <a:latin typeface="Armin Grotesk SemiBold"/>
              </a:rPr>
              <a:t>EMPEZAR</a:t>
            </a:r>
          </a:p>
        </p:txBody>
      </p:sp>
      <p:sp>
        <p:nvSpPr>
          <p:cNvPr id="17" name="Oval 16"/>
          <p:cNvSpPr/>
          <p:nvPr/>
        </p:nvSpPr>
        <p:spPr>
          <a:xfrm>
            <a:off x="2706624" y="5074920"/>
            <a:ext cx="384048" cy="38404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06624" y="503834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FFFFFF"/>
                </a:solidFill>
                <a:latin typeface="Armin Grotesk Black"/>
              </a:rPr>
              <a:t>›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erpetu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57200"/>
            <a:ext cx="1051560" cy="12574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1143000"/>
            <a:ext cx="68580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0">
                <a:solidFill>
                  <a:srgbClr val="111827"/>
                </a:solidFill>
                <a:latin typeface="Armin Grotesk Black"/>
              </a:rPr>
              <a:t>Bienvenido a </a:t>
            </a:r>
            <a:r>
              <a:rPr sz="3300" b="0">
                <a:solidFill>
                  <a:srgbClr val="1A56DB"/>
                </a:solidFill>
                <a:latin typeface="Armin Grotesk Black"/>
              </a:rPr>
              <a:t>Perpetual.</a:t>
            </a:r>
          </a:p>
        </p:txBody>
      </p:sp>
      <p:sp>
        <p:nvSpPr>
          <p:cNvPr id="4" name="Oval 3"/>
          <p:cNvSpPr/>
          <p:nvPr/>
        </p:nvSpPr>
        <p:spPr>
          <a:xfrm>
            <a:off x="4754880" y="1737360"/>
            <a:ext cx="1554480" cy="1554480"/>
          </a:xfrm>
          <a:prstGeom prst="ellipse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297680" y="1737360"/>
            <a:ext cx="3931920" cy="2743200"/>
          </a:xfrm>
          <a:prstGeom prst="roundRect">
            <a:avLst>
              <a:gd name="adj" fmla="val 6000"/>
            </a:avLst>
          </a:prstGeom>
          <a:solidFill>
            <a:srgbClr val="DBE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934455" y="2779776"/>
            <a:ext cx="658368" cy="65836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158301" y="3003621"/>
            <a:ext cx="210677" cy="210677"/>
          </a:xfrm>
          <a:prstGeom prst="ellipse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0" y="4160520"/>
            <a:ext cx="2468880" cy="310896"/>
          </a:xfrm>
          <a:prstGeom prst="roundRect">
            <a:avLst>
              <a:gd name="adj" fmla="val 50000"/>
            </a:avLst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4160520"/>
            <a:ext cx="24688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0" spc="120">
                <a:solidFill>
                  <a:srgbClr val="FFFFFF"/>
                </a:solidFill>
                <a:latin typeface="Armin Grotesk SemiBold"/>
              </a:rPr>
              <a:t>SOPORTE DE MARKETING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377440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0">
                <a:solidFill>
                  <a:srgbClr val="1A56DB"/>
                </a:solidFill>
                <a:latin typeface="Armin Grotesk Black"/>
              </a:rPr>
              <a:t>2.9M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00806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spc="60">
                <a:solidFill>
                  <a:srgbClr val="6B7280"/>
                </a:solidFill>
                <a:latin typeface="Armin Grotesk SemiBold"/>
              </a:rPr>
              <a:t>IMPRESIONES GESTIONADAS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566160"/>
            <a:ext cx="329184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6B7280"/>
                </a:solidFill>
                <a:latin typeface="Armin Grotesk"/>
              </a:rPr>
              <a:t>Acompanamos a tu equipo de principio a fin: estrategia, ejecucion y medicion en un solo lugar.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95360" y="2103120"/>
            <a:ext cx="3017520" cy="3291840"/>
          </a:xfrm>
          <a:prstGeom prst="roundRect">
            <a:avLst>
              <a:gd name="adj" fmla="val 6000"/>
            </a:avLst>
          </a:prstGeom>
          <a:solidFill>
            <a:srgbClr val="FDE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742017" y="3386937"/>
            <a:ext cx="724204" cy="72420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988247" y="3633167"/>
            <a:ext cx="231745" cy="231745"/>
          </a:xfrm>
          <a:prstGeom prst="ellipse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perpetu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437376"/>
            <a:ext cx="960120" cy="11481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691640" y="640080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JetBrains Mono"/>
              </a:rPr>
              <a:t>Confidencial  ·  Perpetual Technologies ©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0" y="6400800"/>
            <a:ext cx="987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JetBrains Mono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erpetu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57200"/>
            <a:ext cx="1051560" cy="12574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114300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>
                <a:solidFill>
                  <a:srgbClr val="111827"/>
                </a:solidFill>
                <a:latin typeface="Armin Grotesk Black"/>
              </a:rPr>
              <a:t>Conoce a nuestro
</a:t>
            </a:r>
            <a:r>
              <a:rPr sz="3000" b="0">
                <a:solidFill>
                  <a:srgbClr val="1A56DB"/>
                </a:solidFill>
                <a:latin typeface="Armin Grotesk Black"/>
              </a:rPr>
              <a:t>equipo.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0" y="1463040"/>
            <a:ext cx="1417320" cy="2011680"/>
          </a:xfrm>
          <a:prstGeom prst="roundRect">
            <a:avLst>
              <a:gd name="adj" fmla="val 6000"/>
            </a:avLst>
          </a:prstGeom>
          <a:solidFill>
            <a:srgbClr val="DBE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024981" y="2298801"/>
            <a:ext cx="340156" cy="34015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140634" y="2414454"/>
            <a:ext cx="108850" cy="108850"/>
          </a:xfrm>
          <a:prstGeom prst="ellipse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0" y="3566160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111827"/>
                </a:solidFill>
                <a:latin typeface="Armin Grotesk SemiBold"/>
              </a:rPr>
              <a:t>Ana Rojas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3840480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1A56DB"/>
                </a:solidFill>
                <a:latin typeface="Armin Grotesk SemiBold"/>
              </a:rPr>
              <a:t>MARKETING LEAD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86600" y="1463040"/>
            <a:ext cx="1417320" cy="2011680"/>
          </a:xfrm>
          <a:prstGeom prst="roundRect">
            <a:avLst>
              <a:gd name="adj" fmla="val 6000"/>
            </a:avLst>
          </a:prstGeom>
          <a:solidFill>
            <a:srgbClr val="FDE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625181" y="2298801"/>
            <a:ext cx="340156" cy="34015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740834" y="2414454"/>
            <a:ext cx="108850" cy="108850"/>
          </a:xfrm>
          <a:prstGeom prst="ellipse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86600" y="3566160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111827"/>
                </a:solidFill>
                <a:latin typeface="Armin Grotesk SemiBold"/>
              </a:rPr>
              <a:t>Luis Vega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86600" y="3840480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1A56DB"/>
                </a:solidFill>
                <a:latin typeface="Armin Grotesk SemiBold"/>
              </a:rPr>
              <a:t>DATA ANALYST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0" y="1463040"/>
            <a:ext cx="1417320" cy="2011680"/>
          </a:xfrm>
          <a:prstGeom prst="roundRect">
            <a:avLst>
              <a:gd name="adj" fmla="val 6000"/>
            </a:avLst>
          </a:prstGeom>
          <a:solidFill>
            <a:srgbClr val="DBE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225381" y="2298801"/>
            <a:ext cx="340156" cy="34015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341034" y="2414454"/>
            <a:ext cx="108850" cy="108850"/>
          </a:xfrm>
          <a:prstGeom prst="ellipse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0" y="3566160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111827"/>
                </a:solidFill>
                <a:latin typeface="Armin Grotesk SemiBold"/>
              </a:rPr>
              <a:t>Mara Diaz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3840480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1A56DB"/>
                </a:solidFill>
                <a:latin typeface="Armin Grotesk SemiBold"/>
              </a:rPr>
              <a:t>CREATIVE DIR.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287000" y="1463040"/>
            <a:ext cx="1417320" cy="2011680"/>
          </a:xfrm>
          <a:prstGeom prst="roundRect">
            <a:avLst>
              <a:gd name="adj" fmla="val 6000"/>
            </a:avLst>
          </a:prstGeom>
          <a:solidFill>
            <a:srgbClr val="FDE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25581" y="2298801"/>
            <a:ext cx="340156" cy="34015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941234" y="2414454"/>
            <a:ext cx="108850" cy="108850"/>
          </a:xfrm>
          <a:prstGeom prst="ellipse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287000" y="3566160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111827"/>
                </a:solidFill>
                <a:latin typeface="Armin Grotesk SemiBold"/>
              </a:rPr>
              <a:t>Iván Soto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3840480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1A56DB"/>
                </a:solidFill>
                <a:latin typeface="Armin Grotesk SemiBold"/>
              </a:rPr>
              <a:t>GROWTH</a:t>
            </a:r>
          </a:p>
        </p:txBody>
      </p:sp>
      <p:sp>
        <p:nvSpPr>
          <p:cNvPr id="24" name="Oval 23"/>
          <p:cNvSpPr/>
          <p:nvPr/>
        </p:nvSpPr>
        <p:spPr>
          <a:xfrm>
            <a:off x="10881360" y="4754880"/>
            <a:ext cx="914400" cy="914400"/>
          </a:xfrm>
          <a:prstGeom prst="ellipse">
            <a:avLst/>
          </a:prstGeom>
          <a:solidFill>
            <a:srgbClr val="FB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4206240"/>
            <a:ext cx="43891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6B7280"/>
                </a:solidFill>
                <a:latin typeface="Armin Grotesk"/>
              </a:rPr>
              <a:t>Un equipo multidisciplinario enfocado en resultados, no en vanity metrics.</a:t>
            </a:r>
          </a:p>
        </p:txBody>
      </p:sp>
      <p:pic>
        <p:nvPicPr>
          <p:cNvPr id="26" name="Picture 25" descr="perpetu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437376"/>
            <a:ext cx="960120" cy="114814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691640" y="640080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JetBrains Mono"/>
              </a:rPr>
              <a:t>Confidencial  ·  Perpetual Technologies ©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98480" y="6400800"/>
            <a:ext cx="987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JetBrains Mono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erpetu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57200"/>
            <a:ext cx="1051560" cy="12574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1143000"/>
            <a:ext cx="68580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>
                <a:solidFill>
                  <a:srgbClr val="111827"/>
                </a:solidFill>
                <a:latin typeface="Armin Grotesk Black"/>
              </a:rPr>
              <a:t>Sobre el trabajo
</a:t>
            </a:r>
            <a:r>
              <a:rPr sz="3000" b="0">
                <a:solidFill>
                  <a:srgbClr val="1A56DB"/>
                </a:solidFill>
                <a:latin typeface="Armin Grotesk Black"/>
              </a:rPr>
              <a:t>actual.</a:t>
            </a:r>
          </a:p>
        </p:txBody>
      </p:sp>
      <p:sp>
        <p:nvSpPr>
          <p:cNvPr id="4" name="Oval 3"/>
          <p:cNvSpPr/>
          <p:nvPr/>
        </p:nvSpPr>
        <p:spPr>
          <a:xfrm>
            <a:off x="6126480" y="1188720"/>
            <a:ext cx="2743200" cy="2743200"/>
          </a:xfrm>
          <a:prstGeom prst="ellipse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949440" y="1371600"/>
            <a:ext cx="3108960" cy="2194560"/>
          </a:xfrm>
          <a:prstGeom prst="roundRect">
            <a:avLst>
              <a:gd name="adj" fmla="val 6000"/>
            </a:avLst>
          </a:prstGeom>
          <a:solidFill>
            <a:srgbClr val="DBE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240572" y="2205532"/>
            <a:ext cx="526694" cy="52669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419648" y="2384608"/>
            <a:ext cx="168542" cy="168542"/>
          </a:xfrm>
          <a:prstGeom prst="ellipse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669280" y="3108960"/>
            <a:ext cx="3108960" cy="2103120"/>
          </a:xfrm>
          <a:prstGeom prst="roundRect">
            <a:avLst>
              <a:gd name="adj" fmla="val 6000"/>
            </a:avLst>
          </a:prstGeom>
          <a:solidFill>
            <a:srgbClr val="FDE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971385" y="3908145"/>
            <a:ext cx="504748" cy="50474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43000" y="4079760"/>
            <a:ext cx="161519" cy="161519"/>
          </a:xfrm>
          <a:prstGeom prst="ellipse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869680" y="4023360"/>
            <a:ext cx="1737360" cy="1737360"/>
          </a:xfrm>
          <a:prstGeom prst="ellipse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686800" y="4480560"/>
            <a:ext cx="2468880" cy="566928"/>
          </a:xfrm>
          <a:prstGeom prst="roundRect">
            <a:avLst>
              <a:gd name="adj" fmla="val 50000"/>
            </a:avLst>
          </a:prstGeom>
          <a:solidFill>
            <a:srgbClr val="F97316"/>
          </a:solidFill>
          <a:ln>
            <a:noFill/>
          </a:ln>
          <a:effectLst>
            <a:outerShdw blurRad="152400" dist="38100" dir="5400000" rotWithShape="0">
              <a:srgbClr val="1A2B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97696" y="4480560"/>
            <a:ext cx="15544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spc="80">
                <a:solidFill>
                  <a:srgbClr val="FFFFFF"/>
                </a:solidFill>
                <a:latin typeface="Armin Grotesk SemiBold"/>
              </a:rPr>
              <a:t>NUEVA VIA DEL EXITO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560320"/>
            <a:ext cx="420624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6B7280"/>
                </a:solidFill>
                <a:latin typeface="Armin Grotesk"/>
              </a:rPr>
              <a:t>Cada cuenta tiene un plan vivo: lo medimos cada semana y ajustamos con base en datos.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2976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A56DB"/>
                </a:solidFill>
                <a:latin typeface="Armin Grotesk SemiBold"/>
              </a:rPr>
              <a:t>Auditoria y diagnostico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66344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A56DB"/>
                </a:solidFill>
                <a:latin typeface="Armin Grotesk SemiBold"/>
              </a:rPr>
              <a:t>Plan de medios y contenido</a:t>
            </a:r>
          </a:p>
        </p:txBody>
      </p:sp>
      <p:pic>
        <p:nvPicPr>
          <p:cNvPr id="17" name="Picture 16" descr="perpetu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437376"/>
            <a:ext cx="960120" cy="11481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691640" y="640080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JetBrains Mono"/>
              </a:rPr>
              <a:t>Confidencial  ·  Perpetual Technologies ©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0" y="6400800"/>
            <a:ext cx="987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JetBrains Mono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erpetu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57200"/>
            <a:ext cx="1051560" cy="12574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1143000"/>
            <a:ext cx="68580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0">
                <a:solidFill>
                  <a:srgbClr val="111827"/>
                </a:solidFill>
                <a:latin typeface="Armin Grotesk Black"/>
              </a:rPr>
              <a:t>Lo que </a:t>
            </a:r>
            <a:r>
              <a:rPr sz="3300" b="0">
                <a:solidFill>
                  <a:srgbClr val="1A56DB"/>
                </a:solidFill>
                <a:latin typeface="Armin Grotesk Black"/>
              </a:rPr>
              <a:t>ofrecemos.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79" y="914400"/>
            <a:ext cx="4023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6B7280"/>
                </a:solidFill>
                <a:latin typeface="Armin Grotesk"/>
              </a:rPr>
              <a:t>Servicios end to end para que tu marca crezca con foco en retorno.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377440"/>
            <a:ext cx="3383280" cy="3566160"/>
          </a:xfrm>
          <a:prstGeom prst="roundRect">
            <a:avLst>
              <a:gd name="adj" fmla="val 8000"/>
            </a:avLst>
          </a:prstGeom>
          <a:solidFill>
            <a:srgbClr val="1A56DB"/>
          </a:solidFill>
          <a:ln>
            <a:noFill/>
          </a:ln>
          <a:effectLst>
            <a:outerShdw blurRad="152400" dist="38100" dir="5400000" rotWithShape="0">
              <a:srgbClr val="1A2B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60119" y="2697480"/>
            <a:ext cx="640080" cy="6400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exagon 6"/>
          <p:cNvSpPr/>
          <p:nvPr/>
        </p:nvSpPr>
        <p:spPr>
          <a:xfrm>
            <a:off x="1097280" y="2834640"/>
            <a:ext cx="365760" cy="365760"/>
          </a:xfrm>
          <a:prstGeom prst="hexagon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3657600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>
                <a:solidFill>
                  <a:srgbClr val="FFFFFF"/>
                </a:solidFill>
                <a:latin typeface="Armin Grotesk SemiBold"/>
              </a:rPr>
              <a:t>SEO y contenido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480560"/>
            <a:ext cx="27432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FFFFFF"/>
                </a:solidFill>
                <a:latin typeface="Armin Grotesk"/>
              </a:rPr>
              <a:t>Estrategia, ejecucion y reporte claro de cada iniciativa.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2377440"/>
            <a:ext cx="3383280" cy="3566160"/>
          </a:xfrm>
          <a:prstGeom prst="roundRect">
            <a:avLst>
              <a:gd name="adj" fmla="val 8000"/>
            </a:avLst>
          </a:prstGeom>
          <a:solidFill>
            <a:srgbClr val="0B1220"/>
          </a:solidFill>
          <a:ln>
            <a:noFill/>
          </a:ln>
          <a:effectLst>
            <a:outerShdw blurRad="152400" dist="38100" dir="5400000" rotWithShape="0">
              <a:srgbClr val="1A2B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709159" y="2697480"/>
            <a:ext cx="640080" cy="6400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Hexagon 11"/>
          <p:cNvSpPr/>
          <p:nvPr/>
        </p:nvSpPr>
        <p:spPr>
          <a:xfrm>
            <a:off x="4846320" y="2834640"/>
            <a:ext cx="365760" cy="365760"/>
          </a:xfrm>
          <a:prstGeom prst="hexagon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0" y="3657600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>
                <a:solidFill>
                  <a:srgbClr val="FFFFFF"/>
                </a:solidFill>
                <a:latin typeface="Armin Grotesk SemiBold"/>
              </a:rPr>
              <a:t>Performance ads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4480560"/>
            <a:ext cx="27432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FFFFFF"/>
                </a:solidFill>
                <a:latin typeface="Armin Grotesk"/>
              </a:rPr>
              <a:t>Estrategia, ejecucion y reporte claro de cada iniciativa.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59" y="2377440"/>
            <a:ext cx="3383280" cy="3566160"/>
          </a:xfrm>
          <a:prstGeom prst="roundRect">
            <a:avLst>
              <a:gd name="adj" fmla="val 8000"/>
            </a:avLst>
          </a:prstGeom>
          <a:solidFill>
            <a:srgbClr val="F97316"/>
          </a:solidFill>
          <a:ln>
            <a:noFill/>
          </a:ln>
          <a:effectLst>
            <a:outerShdw blurRad="152400" dist="38100" dir="5400000" rotWithShape="0">
              <a:srgbClr val="1A2B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458199" y="2697480"/>
            <a:ext cx="640080" cy="6400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Hexagon 16"/>
          <p:cNvSpPr/>
          <p:nvPr/>
        </p:nvSpPr>
        <p:spPr>
          <a:xfrm>
            <a:off x="8595359" y="2834640"/>
            <a:ext cx="365760" cy="365760"/>
          </a:xfrm>
          <a:prstGeom prst="hexagon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03919" y="3657600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>
                <a:solidFill>
                  <a:srgbClr val="FFFFFF"/>
                </a:solidFill>
                <a:latin typeface="Armin Grotesk SemiBold"/>
              </a:rPr>
              <a:t>Brand y creatividad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19" y="4480560"/>
            <a:ext cx="27432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FFFFFF"/>
                </a:solidFill>
                <a:latin typeface="Armin Grotesk"/>
              </a:rPr>
              <a:t>Estrategia, ejecucion y reporte claro de cada iniciativa.</a:t>
            </a:r>
          </a:p>
        </p:txBody>
      </p:sp>
      <p:pic>
        <p:nvPicPr>
          <p:cNvPr id="20" name="Picture 19" descr="perpetu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437376"/>
            <a:ext cx="960120" cy="11481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691640" y="640080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JetBrains Mono"/>
              </a:rPr>
              <a:t>Confidencial  ·  Perpetual Technologies ©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0" y="6400800"/>
            <a:ext cx="987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JetBrains Mono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erpetu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57200"/>
            <a:ext cx="1051560" cy="12574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1143000"/>
            <a:ext cx="68580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0">
                <a:solidFill>
                  <a:srgbClr val="111827"/>
                </a:solidFill>
                <a:latin typeface="Armin Grotesk Black"/>
              </a:rPr>
              <a:t>Tendencias de </a:t>
            </a:r>
            <a:r>
              <a:rPr sz="3300" b="0">
                <a:solidFill>
                  <a:srgbClr val="1A56DB"/>
                </a:solidFill>
                <a:latin typeface="Armin Grotesk Black"/>
              </a:rPr>
              <a:t>mercado.</a:t>
            </a:r>
          </a:p>
        </p:txBody>
      </p:sp>
      <p:sp>
        <p:nvSpPr>
          <p:cNvPr id="4" name="Oval 3"/>
          <p:cNvSpPr/>
          <p:nvPr/>
        </p:nvSpPr>
        <p:spPr>
          <a:xfrm>
            <a:off x="2743200" y="2468880"/>
            <a:ext cx="2651760" cy="2651760"/>
          </a:xfrm>
          <a:prstGeom prst="ellipse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754880" y="2926080"/>
            <a:ext cx="2286000" cy="2286000"/>
          </a:xfrm>
          <a:prstGeom prst="ellipse">
            <a:avLst/>
          </a:prstGeom>
          <a:solidFill>
            <a:srgbClr val="FB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0" y="3383280"/>
            <a:ext cx="2651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000" b="0">
                <a:solidFill>
                  <a:srgbClr val="FFFFFF"/>
                </a:solidFill>
                <a:latin typeface="Armin Grotesk Black"/>
              </a:rPr>
              <a:t>3.8M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365760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600" b="0">
                <a:solidFill>
                  <a:srgbClr val="111827"/>
                </a:solidFill>
                <a:latin typeface="Armin Grotesk Black"/>
              </a:rPr>
              <a:t>40.5K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60"/>
            <a:ext cx="1920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6B7280"/>
                </a:solidFill>
                <a:latin typeface="Armin Grotesk SemiBold"/>
              </a:rPr>
              <a:t>ALCANCE
MENSUAL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0" y="3108960"/>
            <a:ext cx="2194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6B7280"/>
                </a:solidFill>
                <a:latin typeface="Armin Grotesk SemiBold"/>
              </a:rPr>
              <a:t>NUEVOS
SEGUIDORES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8595360" y="2377440"/>
          <a:ext cx="3017520" cy="31089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pic>
        <p:nvPicPr>
          <p:cNvPr id="11" name="Picture 10" descr="perpetu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437376"/>
            <a:ext cx="960120" cy="11481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691640" y="640080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JetBrains Mono"/>
              </a:rPr>
              <a:t>Confidencial  ·  Perpetual Technologies ©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00800"/>
            <a:ext cx="987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JetBrains Mono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erpetu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57200"/>
            <a:ext cx="1051560" cy="12574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1143000"/>
            <a:ext cx="68580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0">
                <a:solidFill>
                  <a:srgbClr val="111827"/>
                </a:solidFill>
                <a:latin typeface="Armin Grotesk Black"/>
              </a:rPr>
              <a:t>Nuestras </a:t>
            </a:r>
            <a:r>
              <a:rPr sz="3300" b="0">
                <a:solidFill>
                  <a:srgbClr val="1A56DB"/>
                </a:solidFill>
                <a:latin typeface="Armin Grotesk Black"/>
              </a:rPr>
              <a:t>soluciones.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0" y="914400"/>
            <a:ext cx="38404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6B7280"/>
                </a:solidFill>
                <a:latin typeface="Armin Grotesk"/>
              </a:rPr>
              <a:t>Dos frentes de trabajo que se refuerzan entre si.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68880"/>
            <a:ext cx="10881360" cy="1417320"/>
          </a:xfrm>
          <a:prstGeom prst="roundRect">
            <a:avLst>
              <a:gd name="adj" fmla="val 8000"/>
            </a:avLst>
          </a:prstGeom>
          <a:solidFill>
            <a:srgbClr val="1A56DB"/>
          </a:solidFill>
          <a:ln>
            <a:noFill/>
          </a:ln>
          <a:effectLst>
            <a:outerShdw blurRad="152400" dist="38100" dir="5400000" rotWithShape="0">
              <a:srgbClr val="1A2B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834640"/>
            <a:ext cx="914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FFFFFF"/>
                </a:solidFill>
                <a:latin typeface="Armin Grotesk Black"/>
              </a:rPr>
              <a:t>O1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03120" y="274320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Armin Grotesk SemiBold"/>
              </a:rPr>
              <a:t>Adquisicion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3154680"/>
            <a:ext cx="8778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DBE4FF"/>
                </a:solidFill>
                <a:latin typeface="Armin Grotesk"/>
              </a:rPr>
              <a:t>Campanas de performance optimizadas a costo por resultado.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160520"/>
            <a:ext cx="10881360" cy="1417320"/>
          </a:xfrm>
          <a:prstGeom prst="roundRect">
            <a:avLst>
              <a:gd name="adj" fmla="val 8000"/>
            </a:avLst>
          </a:prstGeom>
          <a:solidFill>
            <a:srgbClr val="0B1220"/>
          </a:solidFill>
          <a:ln>
            <a:noFill/>
          </a:ln>
          <a:effectLst>
            <a:outerShdw blurRad="152400" dist="38100" dir="5400000" rotWithShape="0">
              <a:srgbClr val="1A2B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914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FFFFFF"/>
                </a:solidFill>
                <a:latin typeface="Armin Grotesk Black"/>
              </a:rPr>
              <a:t>O2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44348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Armin Grotesk SemiBold"/>
              </a:rPr>
              <a:t>Retencion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20" y="4846320"/>
            <a:ext cx="8778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DBE4FF"/>
                </a:solidFill>
                <a:latin typeface="Armin Grotesk"/>
              </a:rPr>
              <a:t>Contenido y automatizaciones que sostienen el crecimiento.</a:t>
            </a:r>
          </a:p>
        </p:txBody>
      </p:sp>
      <p:pic>
        <p:nvPicPr>
          <p:cNvPr id="13" name="Picture 12" descr="perpetu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437376"/>
            <a:ext cx="960120" cy="11481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691640" y="640080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JetBrains Mono"/>
              </a:rPr>
              <a:t>Confidencial  ·  Perpetual Technologies ©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0" y="6400800"/>
            <a:ext cx="987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JetBrains Mono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erpetu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57200"/>
            <a:ext cx="1051560" cy="12574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1143000"/>
            <a:ext cx="68580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0">
                <a:solidFill>
                  <a:srgbClr val="111827"/>
                </a:solidFill>
                <a:latin typeface="Armin Grotesk Black"/>
              </a:rPr>
              <a:t>Herramientas de </a:t>
            </a:r>
            <a:r>
              <a:rPr sz="3300" b="0">
                <a:solidFill>
                  <a:srgbClr val="1A56DB"/>
                </a:solidFill>
                <a:latin typeface="Armin Grotesk Black"/>
              </a:rPr>
              <a:t>marketing.</a:t>
            </a:r>
          </a:p>
        </p:txBody>
      </p:sp>
      <p:sp>
        <p:nvSpPr>
          <p:cNvPr id="4" name="Oval 3"/>
          <p:cNvSpPr/>
          <p:nvPr/>
        </p:nvSpPr>
        <p:spPr>
          <a:xfrm>
            <a:off x="731520" y="2651760"/>
            <a:ext cx="1280160" cy="1280160"/>
          </a:xfrm>
          <a:prstGeom prst="ellipse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Hexagon 4"/>
          <p:cNvSpPr/>
          <p:nvPr/>
        </p:nvSpPr>
        <p:spPr>
          <a:xfrm>
            <a:off x="1115568" y="3035808"/>
            <a:ext cx="512063" cy="512063"/>
          </a:xfrm>
          <a:prstGeom prst="hexagon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4114800"/>
            <a:ext cx="1737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>
                <a:solidFill>
                  <a:srgbClr val="111827"/>
                </a:solidFill>
                <a:latin typeface="Armin Grotesk SemiBold"/>
              </a:rPr>
              <a:t>Audio social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709160"/>
            <a:ext cx="1737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6B7280"/>
                </a:solidFill>
                <a:latin typeface="Armin Grotesk"/>
              </a:rPr>
              <a:t>Stack y procesos</a:t>
            </a:r>
          </a:p>
        </p:txBody>
      </p:sp>
      <p:sp>
        <p:nvSpPr>
          <p:cNvPr id="8" name="Oval 7"/>
          <p:cNvSpPr/>
          <p:nvPr/>
        </p:nvSpPr>
        <p:spPr>
          <a:xfrm>
            <a:off x="2971800" y="2651760"/>
            <a:ext cx="1280160" cy="1280160"/>
          </a:xfrm>
          <a:prstGeom prst="ellipse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Hexagon 8"/>
          <p:cNvSpPr/>
          <p:nvPr/>
        </p:nvSpPr>
        <p:spPr>
          <a:xfrm>
            <a:off x="3355848" y="3035808"/>
            <a:ext cx="512063" cy="512063"/>
          </a:xfrm>
          <a:prstGeom prst="hexagon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0" y="4114800"/>
            <a:ext cx="1737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>
                <a:solidFill>
                  <a:srgbClr val="111827"/>
                </a:solidFill>
                <a:latin typeface="Armin Grotesk SemiBold"/>
              </a:rPr>
              <a:t>SEO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4709160"/>
            <a:ext cx="1737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6B7280"/>
                </a:solidFill>
                <a:latin typeface="Armin Grotesk"/>
              </a:rPr>
              <a:t>Stack y procesos</a:t>
            </a:r>
          </a:p>
        </p:txBody>
      </p:sp>
      <p:sp>
        <p:nvSpPr>
          <p:cNvPr id="12" name="Oval 11"/>
          <p:cNvSpPr/>
          <p:nvPr/>
        </p:nvSpPr>
        <p:spPr>
          <a:xfrm>
            <a:off x="5212080" y="2651760"/>
            <a:ext cx="1280160" cy="1280160"/>
          </a:xfrm>
          <a:prstGeom prst="ellipse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Hexagon 12"/>
          <p:cNvSpPr/>
          <p:nvPr/>
        </p:nvSpPr>
        <p:spPr>
          <a:xfrm>
            <a:off x="5596128" y="3035808"/>
            <a:ext cx="512063" cy="512063"/>
          </a:xfrm>
          <a:prstGeom prst="hexagon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3480" y="4114800"/>
            <a:ext cx="1737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>
                <a:solidFill>
                  <a:srgbClr val="111827"/>
                </a:solidFill>
                <a:latin typeface="Armin Grotesk SemiBold"/>
              </a:rPr>
              <a:t>Video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83480" y="4709160"/>
            <a:ext cx="1737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6B7280"/>
                </a:solidFill>
                <a:latin typeface="Armin Grotesk"/>
              </a:rPr>
              <a:t>Stack y procesos</a:t>
            </a:r>
          </a:p>
        </p:txBody>
      </p:sp>
      <p:sp>
        <p:nvSpPr>
          <p:cNvPr id="16" name="Oval 15"/>
          <p:cNvSpPr/>
          <p:nvPr/>
        </p:nvSpPr>
        <p:spPr>
          <a:xfrm>
            <a:off x="7452360" y="2651760"/>
            <a:ext cx="1280160" cy="1280160"/>
          </a:xfrm>
          <a:prstGeom prst="ellipse">
            <a:avLst/>
          </a:prstGeom>
          <a:solidFill>
            <a:srgbClr val="FB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Hexagon 16"/>
          <p:cNvSpPr/>
          <p:nvPr/>
        </p:nvSpPr>
        <p:spPr>
          <a:xfrm>
            <a:off x="7836408" y="3035808"/>
            <a:ext cx="512063" cy="512063"/>
          </a:xfrm>
          <a:prstGeom prst="hexagon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23760" y="4114800"/>
            <a:ext cx="1737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>
                <a:solidFill>
                  <a:srgbClr val="111827"/>
                </a:solidFill>
                <a:latin typeface="Armin Grotesk SemiBold"/>
              </a:rPr>
              <a:t>Social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23760" y="4709160"/>
            <a:ext cx="1737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6B7280"/>
                </a:solidFill>
                <a:latin typeface="Armin Grotesk"/>
              </a:rPr>
              <a:t>Stack y procesos</a:t>
            </a:r>
          </a:p>
        </p:txBody>
      </p:sp>
      <p:sp>
        <p:nvSpPr>
          <p:cNvPr id="20" name="Oval 19"/>
          <p:cNvSpPr/>
          <p:nvPr/>
        </p:nvSpPr>
        <p:spPr>
          <a:xfrm>
            <a:off x="9692640" y="2651760"/>
            <a:ext cx="1280160" cy="1280160"/>
          </a:xfrm>
          <a:prstGeom prst="ellipse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Hexagon 20"/>
          <p:cNvSpPr/>
          <p:nvPr/>
        </p:nvSpPr>
        <p:spPr>
          <a:xfrm>
            <a:off x="10076688" y="3035808"/>
            <a:ext cx="512063" cy="512063"/>
          </a:xfrm>
          <a:prstGeom prst="hexagon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64040" y="4114800"/>
            <a:ext cx="1737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>
                <a:solidFill>
                  <a:srgbClr val="111827"/>
                </a:solidFill>
                <a:latin typeface="Armin Grotesk SemiBold"/>
              </a:rPr>
              <a:t>Automatizacion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64040" y="4709160"/>
            <a:ext cx="1737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6B7280"/>
                </a:solidFill>
                <a:latin typeface="Armin Grotesk"/>
              </a:rPr>
              <a:t>Stack y procesos</a:t>
            </a:r>
          </a:p>
        </p:txBody>
      </p:sp>
      <p:pic>
        <p:nvPicPr>
          <p:cNvPr id="24" name="Picture 23" descr="perpetu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437376"/>
            <a:ext cx="960120" cy="11481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691640" y="640080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JetBrains Mono"/>
              </a:rPr>
              <a:t>Confidencial  ·  Perpetual Technologies ©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400800"/>
            <a:ext cx="987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JetBrains Mono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erpetu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57200"/>
            <a:ext cx="1051560" cy="12574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1143000"/>
            <a:ext cx="4114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0">
                <a:solidFill>
                  <a:srgbClr val="111827"/>
                </a:solidFill>
                <a:latin typeface="Armin Grotesk Black"/>
              </a:rPr>
              <a:t>Opiniones de </a:t>
            </a:r>
            <a:r>
              <a:rPr sz="3300" b="0">
                <a:solidFill>
                  <a:srgbClr val="1A56DB"/>
                </a:solidFill>
                <a:latin typeface="Armin Grotesk Black"/>
              </a:rPr>
              <a:t>clientes.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960120"/>
            <a:ext cx="2743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0">
                <a:solidFill>
                  <a:srgbClr val="1A56DB"/>
                </a:solidFill>
                <a:latin typeface="Armin Grotesk Black"/>
              </a:rPr>
              <a:t>4,890 +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869680" y="914400"/>
            <a:ext cx="2743200" cy="3108960"/>
          </a:xfrm>
          <a:prstGeom prst="roundRect">
            <a:avLst>
              <a:gd name="adj" fmla="val 6000"/>
            </a:avLst>
          </a:prstGeom>
          <a:solidFill>
            <a:srgbClr val="DBE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912096" y="2139696"/>
            <a:ext cx="658368" cy="65836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135941" y="2363541"/>
            <a:ext cx="210677" cy="210677"/>
          </a:xfrm>
          <a:prstGeom prst="ellipse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155680" y="3291840"/>
            <a:ext cx="914400" cy="914400"/>
          </a:xfrm>
          <a:prstGeom prst="ellipse">
            <a:avLst/>
          </a:prstGeom>
          <a:solidFill>
            <a:srgbClr val="FB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2468880"/>
            <a:ext cx="7772400" cy="1234440"/>
          </a:xfrm>
          <a:prstGeom prst="roundRect">
            <a:avLst>
              <a:gd name="adj" fmla="val 10000"/>
            </a:avLst>
          </a:prstGeom>
          <a:solidFill>
            <a:srgbClr val="F8F9FC"/>
          </a:solidFill>
          <a:ln w="12700">
            <a:solidFill>
              <a:srgbClr val="DDE1EF"/>
            </a:solidFill>
          </a:ln>
          <a:effectLst>
            <a:outerShdw blurRad="152400" dist="38100" dir="5400000" rotWithShape="0">
              <a:srgbClr val="1A2B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" y="2788920"/>
            <a:ext cx="594360" cy="594360"/>
          </a:xfrm>
          <a:prstGeom prst="ellipse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83080" y="2697480"/>
            <a:ext cx="6400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374151"/>
                </a:solidFill>
                <a:latin typeface="Armin Grotesk"/>
              </a:rPr>
              <a:t>El equipo entiende el negocio y entrega resultados claros mes a mes.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86200"/>
            <a:ext cx="7772400" cy="1234440"/>
          </a:xfrm>
          <a:prstGeom prst="roundRect">
            <a:avLst>
              <a:gd name="adj" fmla="val 10000"/>
            </a:avLst>
          </a:prstGeom>
          <a:solidFill>
            <a:srgbClr val="1A56DB"/>
          </a:solidFill>
          <a:ln>
            <a:noFill/>
          </a:ln>
          <a:effectLst>
            <a:outerShdw blurRad="152400" dist="38100" dir="5400000" rotWithShape="0">
              <a:srgbClr val="1A2B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4400" y="4206240"/>
            <a:ext cx="594360" cy="594360"/>
          </a:xfrm>
          <a:prstGeom prst="ellipse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83080" y="4114800"/>
            <a:ext cx="6400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Armin Grotesk"/>
              </a:rPr>
              <a:t>El equipo entiende el negocio y entrega resultados claros mes a mes.</a:t>
            </a:r>
          </a:p>
        </p:txBody>
      </p:sp>
      <p:pic>
        <p:nvPicPr>
          <p:cNvPr id="15" name="Picture 14" descr="perpetu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437376"/>
            <a:ext cx="960120" cy="11481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691640" y="640080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JetBrains Mono"/>
              </a:rPr>
              <a:t>Confidencial  ·  Perpetual Technologies ©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0" y="6400800"/>
            <a:ext cx="987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JetBrains Mono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erpetu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57200"/>
            <a:ext cx="1051560" cy="12574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1143000"/>
            <a:ext cx="68580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0">
                <a:solidFill>
                  <a:srgbClr val="111827"/>
                </a:solidFill>
                <a:latin typeface="Armin Grotesk Black"/>
              </a:rPr>
              <a:t>Nueva via del </a:t>
            </a:r>
            <a:r>
              <a:rPr sz="3300" b="0">
                <a:solidFill>
                  <a:srgbClr val="1A56DB"/>
                </a:solidFill>
                <a:latin typeface="Armin Grotesk Black"/>
              </a:rPr>
              <a:t>exito.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468880"/>
            <a:ext cx="2926080" cy="3291840"/>
          </a:xfrm>
          <a:prstGeom prst="roundRect">
            <a:avLst>
              <a:gd name="adj" fmla="val 6000"/>
            </a:avLst>
          </a:prstGeom>
          <a:solidFill>
            <a:srgbClr val="DBE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751990" y="3763670"/>
            <a:ext cx="702259" cy="70225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990758" y="4002438"/>
            <a:ext cx="224722" cy="224722"/>
          </a:xfrm>
          <a:prstGeom prst="ellipse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4023360" y="2377440"/>
            <a:ext cx="777240" cy="777240"/>
          </a:xfrm>
          <a:prstGeom prst="ellipse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exagon 7"/>
          <p:cNvSpPr/>
          <p:nvPr/>
        </p:nvSpPr>
        <p:spPr>
          <a:xfrm>
            <a:off x="4261104" y="2615184"/>
            <a:ext cx="310896" cy="310896"/>
          </a:xfrm>
          <a:prstGeom prst="hexagon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83480" y="241401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Armin Grotesk SemiBold"/>
              </a:rPr>
              <a:t>O2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83480" y="2670048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rmin Grotesk SemiBold"/>
              </a:rPr>
              <a:t>Diagnostico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83480" y="303580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B7280"/>
                </a:solidFill>
                <a:latin typeface="Armin Grotesk"/>
              </a:rPr>
              <a:t>Paso del proceso con foco en dato.</a:t>
            </a:r>
          </a:p>
        </p:txBody>
      </p:sp>
      <p:sp>
        <p:nvSpPr>
          <p:cNvPr id="12" name="Oval 11"/>
          <p:cNvSpPr/>
          <p:nvPr/>
        </p:nvSpPr>
        <p:spPr>
          <a:xfrm>
            <a:off x="7589520" y="2377440"/>
            <a:ext cx="777240" cy="777240"/>
          </a:xfrm>
          <a:prstGeom prst="ellipse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Hexagon 12"/>
          <p:cNvSpPr/>
          <p:nvPr/>
        </p:nvSpPr>
        <p:spPr>
          <a:xfrm>
            <a:off x="7827264" y="2615184"/>
            <a:ext cx="310896" cy="310896"/>
          </a:xfrm>
          <a:prstGeom prst="hexagon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49640" y="241401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Armin Grotesk SemiBold"/>
              </a:rPr>
              <a:t>O3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9640" y="2670048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rmin Grotesk SemiBold"/>
              </a:rPr>
              <a:t>Estrategia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49640" y="303580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B7280"/>
                </a:solidFill>
                <a:latin typeface="Armin Grotesk"/>
              </a:rPr>
              <a:t>Paso del proceso con foco en dato.</a:t>
            </a:r>
          </a:p>
        </p:txBody>
      </p:sp>
      <p:sp>
        <p:nvSpPr>
          <p:cNvPr id="17" name="Oval 16"/>
          <p:cNvSpPr/>
          <p:nvPr/>
        </p:nvSpPr>
        <p:spPr>
          <a:xfrm>
            <a:off x="4023360" y="4114800"/>
            <a:ext cx="777240" cy="777240"/>
          </a:xfrm>
          <a:prstGeom prst="ellipse">
            <a:avLst/>
          </a:prstGeom>
          <a:solidFill>
            <a:srgbClr val="FB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Hexagon 17"/>
          <p:cNvSpPr/>
          <p:nvPr/>
        </p:nvSpPr>
        <p:spPr>
          <a:xfrm>
            <a:off x="4261104" y="4352544"/>
            <a:ext cx="310896" cy="310896"/>
          </a:xfrm>
          <a:prstGeom prst="hexagon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83480" y="4151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Armin Grotesk SemiBold"/>
              </a:rPr>
              <a:t>O4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83480" y="4407408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rmin Grotesk SemiBold"/>
              </a:rPr>
              <a:t>Ejecucion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83480" y="477316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B7280"/>
                </a:solidFill>
                <a:latin typeface="Armin Grotesk"/>
              </a:rPr>
              <a:t>Paso del proceso con foco en dato.</a:t>
            </a:r>
          </a:p>
        </p:txBody>
      </p:sp>
      <p:sp>
        <p:nvSpPr>
          <p:cNvPr id="22" name="Oval 21"/>
          <p:cNvSpPr/>
          <p:nvPr/>
        </p:nvSpPr>
        <p:spPr>
          <a:xfrm>
            <a:off x="7589520" y="4114800"/>
            <a:ext cx="777240" cy="777240"/>
          </a:xfrm>
          <a:prstGeom prst="ellipse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Hexagon 22"/>
          <p:cNvSpPr/>
          <p:nvPr/>
        </p:nvSpPr>
        <p:spPr>
          <a:xfrm>
            <a:off x="7827264" y="4352544"/>
            <a:ext cx="310896" cy="310896"/>
          </a:xfrm>
          <a:prstGeom prst="hexagon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49640" y="4151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Armin Grotesk SemiBold"/>
              </a:rPr>
              <a:t>O5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49640" y="4407408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rmin Grotesk SemiBold"/>
              </a:rPr>
              <a:t>Optimizacion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49640" y="477316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B7280"/>
                </a:solidFill>
                <a:latin typeface="Armin Grotesk"/>
              </a:rPr>
              <a:t>Paso del proceso con foco en dato.</a:t>
            </a:r>
          </a:p>
        </p:txBody>
      </p:sp>
      <p:pic>
        <p:nvPicPr>
          <p:cNvPr id="27" name="Picture 26" descr="perpetu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437376"/>
            <a:ext cx="960120" cy="114814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691640" y="640080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JetBrains Mono"/>
              </a:rPr>
              <a:t>Confidencial  ·  Perpetual Technologies © 2026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98480" y="6400800"/>
            <a:ext cx="987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JetBrains Mon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erpetu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57200"/>
            <a:ext cx="1051560" cy="12574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1143000"/>
            <a:ext cx="68580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>
                <a:solidFill>
                  <a:srgbClr val="111827"/>
                </a:solidFill>
                <a:latin typeface="Armin Grotesk Black"/>
              </a:rPr>
              <a:t>Plan de estrategia
</a:t>
            </a:r>
            <a:r>
              <a:rPr sz="3000" b="0">
                <a:solidFill>
                  <a:srgbClr val="1A56DB"/>
                </a:solidFill>
                <a:latin typeface="Armin Grotesk Black"/>
              </a:rPr>
              <a:t>de marketing.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0" y="1097280"/>
            <a:ext cx="4754880" cy="914400"/>
          </a:xfrm>
          <a:prstGeom prst="roundRect">
            <a:avLst>
              <a:gd name="adj" fmla="val 12000"/>
            </a:avLst>
          </a:prstGeom>
          <a:solidFill>
            <a:srgbClr val="F97316"/>
          </a:solidFill>
          <a:ln>
            <a:noFill/>
          </a:ln>
          <a:effectLst>
            <a:outerShdw blurRad="152400" dist="38100" dir="5400000" rotWithShape="0">
              <a:srgbClr val="1A2B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720840" y="1097280"/>
            <a:ext cx="41148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Armin Grotesk SemiBold"/>
              </a:rPr>
              <a:t>Objetivos y KPIs del trimestre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2286000"/>
            <a:ext cx="4206240" cy="914400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>
            <a:outerShdw blurRad="152400" dist="38100" dir="5400000" rotWithShape="0">
              <a:srgbClr val="1A2B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06440" y="2286000"/>
            <a:ext cx="3566159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Armin Grotesk SemiBold"/>
              </a:rPr>
              <a:t>Mensajes y audiencias clave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0" y="3474720"/>
            <a:ext cx="4572000" cy="914400"/>
          </a:xfrm>
          <a:prstGeom prst="roundRect">
            <a:avLst>
              <a:gd name="adj" fmla="val 12000"/>
            </a:avLst>
          </a:prstGeom>
          <a:solidFill>
            <a:srgbClr val="1A56DB"/>
          </a:solidFill>
          <a:ln>
            <a:noFill/>
          </a:ln>
          <a:effectLst>
            <a:outerShdw blurRad="152400" dist="38100" dir="5400000" rotWithShape="0">
              <a:srgbClr val="1A2B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86600" y="3474720"/>
            <a:ext cx="393192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Armin Grotesk SemiBold"/>
              </a:rPr>
              <a:t>Mezcla de canales y presupuesto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52160" y="4663440"/>
            <a:ext cx="4937760" cy="914400"/>
          </a:xfrm>
          <a:prstGeom prst="roundRect">
            <a:avLst>
              <a:gd name="adj" fmla="val 12000"/>
            </a:avLst>
          </a:prstGeom>
          <a:solidFill>
            <a:srgbClr val="F8F9FC"/>
          </a:solidFill>
          <a:ln w="12700">
            <a:solidFill>
              <a:srgbClr val="DDE1EF"/>
            </a:solidFill>
          </a:ln>
          <a:effectLst>
            <a:outerShdw blurRad="152400" dist="38100" dir="5400000" rotWithShape="0">
              <a:srgbClr val="1A2B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72200" y="4663440"/>
            <a:ext cx="429768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374151"/>
                </a:solidFill>
                <a:latin typeface="Armin Grotesk SemiBold"/>
              </a:rPr>
              <a:t>Calendario y responsables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651760"/>
            <a:ext cx="420624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6B7280"/>
                </a:solidFill>
                <a:latin typeface="Armin Grotesk"/>
              </a:rPr>
              <a:t>Un plan claro, por fases, con metas medibles y duenos definidos en cada etapa.</a:t>
            </a:r>
          </a:p>
        </p:txBody>
      </p:sp>
      <p:pic>
        <p:nvPicPr>
          <p:cNvPr id="13" name="Picture 12" descr="perpetu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437376"/>
            <a:ext cx="960120" cy="11481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691640" y="640080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JetBrains Mono"/>
              </a:rPr>
              <a:t>Confidencial  ·  Perpetual Technologies ©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0" y="6400800"/>
            <a:ext cx="987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JetBrains Mon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erpetu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57200"/>
            <a:ext cx="1051560" cy="12574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1143000"/>
            <a:ext cx="68580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0">
                <a:solidFill>
                  <a:srgbClr val="111827"/>
                </a:solidFill>
                <a:latin typeface="Armin Grotesk Black"/>
              </a:rPr>
              <a:t>Crece con </a:t>
            </a:r>
            <a:r>
              <a:rPr sz="3300" b="0">
                <a:solidFill>
                  <a:srgbClr val="1A56DB"/>
                </a:solidFill>
                <a:latin typeface="Armin Grotesk Black"/>
              </a:rPr>
              <a:t>nosotros.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554480"/>
            <a:ext cx="5394960" cy="4206240"/>
          </a:xfrm>
          <a:prstGeom prst="roundRect">
            <a:avLst>
              <a:gd name="adj" fmla="val 10000"/>
            </a:avLst>
          </a:prstGeom>
          <a:solidFill>
            <a:srgbClr val="1A56DB"/>
          </a:solidFill>
          <a:ln>
            <a:noFill/>
          </a:ln>
          <a:effectLst>
            <a:outerShdw blurRad="152400" dist="38100" dir="5400000" rotWithShape="0">
              <a:srgbClr val="1A2B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0" y="1920240"/>
            <a:ext cx="3657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0">
                <a:solidFill>
                  <a:srgbClr val="FFFFFF"/>
                </a:solidFill>
                <a:latin typeface="Armin Grotesk Black"/>
              </a:rPr>
              <a:t>+58%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0" y="27432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DBE4FF"/>
                </a:solidFill>
                <a:latin typeface="Armin Grotesk"/>
              </a:rPr>
              <a:t>Crecimiento interanual promedio</a:t>
            </a:r>
          </a:p>
        </p:txBody>
      </p:sp>
      <p:sp>
        <p:nvSpPr>
          <p:cNvPr id="7" name="Oval 6"/>
          <p:cNvSpPr/>
          <p:nvPr/>
        </p:nvSpPr>
        <p:spPr>
          <a:xfrm>
            <a:off x="6766560" y="4846320"/>
            <a:ext cx="146304" cy="146304"/>
          </a:xfrm>
          <a:prstGeom prst="ellipse">
            <a:avLst/>
          </a:prstGeom>
          <a:solidFill>
            <a:srgbClr val="FB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863840" y="4480560"/>
            <a:ext cx="146304" cy="146304"/>
          </a:xfrm>
          <a:prstGeom prst="ellipse">
            <a:avLst/>
          </a:prstGeom>
          <a:solidFill>
            <a:srgbClr val="FB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961120" y="4572000"/>
            <a:ext cx="146304" cy="146304"/>
          </a:xfrm>
          <a:prstGeom prst="ellipse">
            <a:avLst/>
          </a:prstGeom>
          <a:solidFill>
            <a:srgbClr val="FB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058400" y="4023360"/>
            <a:ext cx="146304" cy="146304"/>
          </a:xfrm>
          <a:prstGeom prst="ellipse">
            <a:avLst/>
          </a:prstGeom>
          <a:solidFill>
            <a:srgbClr val="FB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972800" y="3657600"/>
            <a:ext cx="146304" cy="146304"/>
          </a:xfrm>
          <a:prstGeom prst="ellipse">
            <a:avLst/>
          </a:prstGeom>
          <a:solidFill>
            <a:srgbClr val="FB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468880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0">
                <a:solidFill>
                  <a:srgbClr val="1A56DB"/>
                </a:solidFill>
                <a:latin typeface="Armin Grotesk Black"/>
              </a:rPr>
              <a:t>100K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067969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spc="60">
                <a:solidFill>
                  <a:srgbClr val="6B7280"/>
                </a:solidFill>
                <a:latin typeface="Armin Grotesk SemiBold"/>
              </a:rPr>
              <a:t>LEADS GENERADOS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931920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0">
                <a:solidFill>
                  <a:srgbClr val="111827"/>
                </a:solidFill>
                <a:latin typeface="Armin Grotesk Black"/>
              </a:rPr>
              <a:t>0.2M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531009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spc="60">
                <a:solidFill>
                  <a:srgbClr val="6B7280"/>
                </a:solidFill>
                <a:latin typeface="Armin Grotesk SemiBold"/>
              </a:rPr>
              <a:t>VENTAS ATRIBUIDAS</a:t>
            </a:r>
          </a:p>
        </p:txBody>
      </p:sp>
      <p:sp>
        <p:nvSpPr>
          <p:cNvPr id="16" name="Oval 15"/>
          <p:cNvSpPr/>
          <p:nvPr/>
        </p:nvSpPr>
        <p:spPr>
          <a:xfrm>
            <a:off x="4480560" y="1371600"/>
            <a:ext cx="640080" cy="640080"/>
          </a:xfrm>
          <a:prstGeom prst="ellipse">
            <a:avLst/>
          </a:prstGeom>
          <a:solidFill>
            <a:srgbClr val="FB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erpetu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437376"/>
            <a:ext cx="960120" cy="11481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691640" y="640080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JetBrains Mono"/>
              </a:rPr>
              <a:t>Confidencial  ·  Perpetual Technologies ©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0" y="6400800"/>
            <a:ext cx="987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JetBrains Mon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2743200"/>
          </a:xfrm>
          <a:prstGeom prst="roundRect">
            <a:avLst>
              <a:gd name="adj" fmla="val 0"/>
            </a:avLst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875520" y="-731520"/>
            <a:ext cx="2011680" cy="2011680"/>
          </a:xfrm>
          <a:prstGeom prst="ellipse">
            <a:avLst/>
          </a:prstGeom>
          <a:solidFill>
            <a:srgbClr val="FB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155680" y="1645920"/>
            <a:ext cx="1280160" cy="1280160"/>
          </a:xfrm>
          <a:prstGeom prst="ellipse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erpetual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48640"/>
            <a:ext cx="1371600" cy="1640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40080" y="1463040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152400" dist="38100" dir="5400000" rotWithShape="0">
              <a:srgbClr val="1A2B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463040"/>
            <a:ext cx="18288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spc="80">
                <a:solidFill>
                  <a:srgbClr val="1A56DB"/>
                </a:solidFill>
                <a:latin typeface="Armin Grotesk SemiBold"/>
              </a:rPr>
              <a:t>EMPEZAR</a:t>
            </a:r>
          </a:p>
        </p:txBody>
      </p:sp>
      <p:sp>
        <p:nvSpPr>
          <p:cNvPr id="8" name="Oval 7"/>
          <p:cNvSpPr/>
          <p:nvPr/>
        </p:nvSpPr>
        <p:spPr>
          <a:xfrm>
            <a:off x="2706624" y="1554480"/>
            <a:ext cx="384048" cy="38404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06624" y="151790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FFFFFF"/>
                </a:solidFill>
                <a:latin typeface="Armin Grotesk Black"/>
              </a:rPr>
              <a:t>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1417320"/>
            <a:ext cx="64008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Armin Grotesk SemiBold"/>
              </a:rPr>
              <a:t>Hablemos de tu proxima campana.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383280"/>
            <a:ext cx="5486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0">
                <a:solidFill>
                  <a:srgbClr val="111827"/>
                </a:solidFill>
                <a:latin typeface="Armin Grotesk Black"/>
              </a:rPr>
              <a:t>Contac</a:t>
            </a:r>
            <a:r>
              <a:rPr sz="4000" b="0">
                <a:solidFill>
                  <a:srgbClr val="1A56DB"/>
                </a:solidFill>
                <a:latin typeface="Armin Grotesk Black"/>
              </a:rPr>
              <a:t>tanos.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93776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A56DB"/>
                </a:solidFill>
                <a:latin typeface="Armin Grotesk SemiBold"/>
              </a:rPr>
              <a:t>CORREO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25780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rmin Grotesk SemiBold"/>
              </a:rPr>
              <a:t>hola@perpetual.pe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493776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A56DB"/>
                </a:solidFill>
                <a:latin typeface="Armin Grotesk SemiBold"/>
              </a:rPr>
              <a:t>TELEFONO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525780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rmin Grotesk SemiBold"/>
              </a:rPr>
              <a:t>+51 999 999 999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59" y="493776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A56DB"/>
                </a:solidFill>
                <a:latin typeface="Armin Grotesk SemiBold"/>
              </a:rPr>
              <a:t>WEB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59" y="525780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rmin Grotesk SemiBold"/>
              </a:rPr>
              <a:t>perpetual.pe</a:t>
            </a:r>
          </a:p>
        </p:txBody>
      </p:sp>
      <p:sp>
        <p:nvSpPr>
          <p:cNvPr id="18" name="Oval 17"/>
          <p:cNvSpPr/>
          <p:nvPr/>
        </p:nvSpPr>
        <p:spPr>
          <a:xfrm>
            <a:off x="10789920" y="5120640"/>
            <a:ext cx="914400" cy="914400"/>
          </a:xfrm>
          <a:prstGeom prst="ellipse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