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FBB9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E</c:v>
                </c:pt>
                <c:pt idx="1">
                  <c:v>F</c:v>
                </c:pt>
                <c:pt idx="2">
                  <c:v>M</c:v>
                </c:pt>
                <c:pt idx="3">
                  <c:v>A</c:v>
                </c:pt>
                <c:pt idx="4">
                  <c:v>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55</c:v>
                </c:pt>
                <c:pt idx="2">
                  <c:v>48</c:v>
                </c:pt>
                <c:pt idx="3">
                  <c:v>70</c:v>
                </c:pt>
                <c:pt idx="4">
                  <c:v>82</c:v>
                </c:pt>
              </c:numCache>
            </c:numRef>
          </c:val>
        </c:ser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E1EF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Armin Grotesk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 w="6350">
              <a:solidFill>
                <a:srgbClr val="DDE1EF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416052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914400"/>
            <a:ext cx="2926080" cy="29260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1828800" cy="182880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0" y="1371600"/>
            <a:ext cx="3017520" cy="301752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7818120" y="2148840"/>
            <a:ext cx="1920240" cy="1920240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58200" y="2788920"/>
            <a:ext cx="640080" cy="64008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4160" y="4297680"/>
            <a:ext cx="731520" cy="73152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0" y="50292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A56DB"/>
                </a:solidFill>
                <a:latin typeface="Armin Grotesk Black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9377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97316"/>
                </a:solidFill>
                <a:latin typeface="Armin Grotesk Black"/>
              </a:rPr>
              <a:t>+</a:t>
            </a:r>
          </a:p>
        </p:txBody>
      </p:sp>
      <p:pic>
        <p:nvPicPr>
          <p:cNvPr id="11" name="Picture 1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371600" cy="1640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13716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600" b="0">
                <a:solidFill>
                  <a:srgbClr val="111827"/>
                </a:solidFill>
                <a:latin typeface="Armin Grotesk Black"/>
              </a:rPr>
              <a:t>Marketing para
</a:t>
            </a:r>
            <a:r>
              <a:rPr sz="4600" b="0">
                <a:solidFill>
                  <a:srgbClr val="1A56DB"/>
                </a:solidFill>
                <a:latin typeface="Armin Grotesk Black"/>
              </a:rPr>
              <a:t>tu marca.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min Grotesk SemiBold"/>
              </a:rPr>
              <a:t>Estrategia y crecimiento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Convertimos tu marca en resultados medibles con data y creatividad.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8348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98348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1A56DB"/>
                </a:solidFill>
                <a:latin typeface="Armin Grotesk SemiBold"/>
              </a:rPr>
              <a:t>EMPEZAR</a:t>
            </a:r>
          </a:p>
        </p:txBody>
      </p:sp>
      <p:sp>
        <p:nvSpPr>
          <p:cNvPr id="17" name="Oval 16"/>
          <p:cNvSpPr/>
          <p:nvPr/>
        </p:nvSpPr>
        <p:spPr>
          <a:xfrm>
            <a:off x="2706624" y="507492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50383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Armin Grotesk Black"/>
              </a:rPr>
              <a:t>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Bienvenido a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Perpetual.</a:t>
            </a:r>
          </a:p>
        </p:txBody>
      </p:sp>
      <p:sp>
        <p:nvSpPr>
          <p:cNvPr id="4" name="Oval 3"/>
          <p:cNvSpPr/>
          <p:nvPr/>
        </p:nvSpPr>
        <p:spPr>
          <a:xfrm>
            <a:off x="4754880" y="1737360"/>
            <a:ext cx="1554480" cy="1554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97680" y="1737360"/>
            <a:ext cx="3931920" cy="274320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162702" y="2670048"/>
            <a:ext cx="932688" cy="932688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81597" y="3054096"/>
            <a:ext cx="603504" cy="603504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185001" y="3547872"/>
            <a:ext cx="356616" cy="356616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6735470" y="2395728"/>
            <a:ext cx="466344" cy="466344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41605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160520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FFFFFF"/>
                </a:solidFill>
                <a:latin typeface="Armin Grotesk SemiBold"/>
              </a:rPr>
              <a:t>SOPORTE DE MARKETING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A56DB"/>
                </a:solidFill>
                <a:latin typeface="Armin Grotesk Black"/>
              </a:rPr>
              <a:t>2.9M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080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IMPRESIONES GESTIONADAS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3291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Acompanamos a tu equipo de principio a fin: estrategia, ejecucion y medicion en un solo lugar.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103120"/>
            <a:ext cx="3017520" cy="329184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59214" y="3222345"/>
            <a:ext cx="1119225" cy="1119225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194645" y="3683203"/>
            <a:ext cx="724204" cy="724204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43769" y="4275734"/>
            <a:ext cx="427939" cy="427939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10466222" y="2893161"/>
            <a:ext cx="559612" cy="559612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Conoce a nuestro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equipo.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249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1406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Ana Rojas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MARKETING LEAD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51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408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Luis Vega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DATA ANALYST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3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410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Mara Diaz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CREATIVE DIR.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87000" y="1463040"/>
            <a:ext cx="1417320" cy="201168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5581" y="2298801"/>
            <a:ext cx="340156" cy="3401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41234" y="2414454"/>
            <a:ext cx="108850" cy="1088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87000" y="356616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11827"/>
                </a:solidFill>
                <a:latin typeface="Armin Grotesk SemiBold"/>
              </a:rPr>
              <a:t>Iván Soto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384048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56DB"/>
                </a:solidFill>
                <a:latin typeface="Armin Grotesk SemiBold"/>
              </a:rPr>
              <a:t>GROWTH</a:t>
            </a:r>
          </a:p>
        </p:txBody>
      </p:sp>
      <p:sp>
        <p:nvSpPr>
          <p:cNvPr id="24" name="Oval 23"/>
          <p:cNvSpPr/>
          <p:nvPr/>
        </p:nvSpPr>
        <p:spPr>
          <a:xfrm>
            <a:off x="10881360" y="4754880"/>
            <a:ext cx="914400" cy="9144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20624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Un equipo multidisciplinario enfocado en resultados, no en vanity metrics.</a:t>
            </a:r>
          </a:p>
        </p:txBody>
      </p:sp>
      <p:pic>
        <p:nvPicPr>
          <p:cNvPr id="26" name="Picture 25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Sobre el trabajo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actual.</a:t>
            </a:r>
          </a:p>
        </p:txBody>
      </p:sp>
      <p:sp>
        <p:nvSpPr>
          <p:cNvPr id="4" name="Oval 3"/>
          <p:cNvSpPr/>
          <p:nvPr/>
        </p:nvSpPr>
        <p:spPr>
          <a:xfrm>
            <a:off x="6126480" y="1188720"/>
            <a:ext cx="2743200" cy="27432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0" y="1371600"/>
            <a:ext cx="3108960" cy="219456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33411" y="2117750"/>
            <a:ext cx="746150" cy="74615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7188" y="2424988"/>
            <a:ext cx="482803" cy="482803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41740" y="2820009"/>
            <a:ext cx="285292" cy="285292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8876995" y="1898294"/>
            <a:ext cx="373075" cy="373075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31089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FD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3251" y="3824020"/>
            <a:ext cx="715060" cy="7150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7028" y="4118457"/>
            <a:ext cx="462686" cy="46268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61580" y="4497019"/>
            <a:ext cx="273405" cy="273405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7596835" y="3613708"/>
            <a:ext cx="357530" cy="357530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69680" y="4023360"/>
            <a:ext cx="1737360" cy="17373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0" y="44805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7696" y="4480560"/>
            <a:ext cx="1554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FFFFFF"/>
                </a:solidFill>
                <a:latin typeface="Armin Grotesk SemiBold"/>
              </a:rPr>
              <a:t>NUEVA VIA DEL EXITO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Cada cuenta tiene un plan vivo: lo medimos cada semana y ajustamos con base en datos.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56DB"/>
                </a:solidFill>
                <a:latin typeface="Armin Grotesk SemiBold"/>
              </a:rPr>
              <a:t>Auditoria y diagnostico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56DB"/>
                </a:solidFill>
                <a:latin typeface="Armin Grotesk SemiBold"/>
              </a:rPr>
              <a:t>Plan de medios y contenido</a:t>
            </a:r>
          </a:p>
        </p:txBody>
      </p:sp>
      <p:pic>
        <p:nvPicPr>
          <p:cNvPr id="21" name="Picture 2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Lo que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ofrecemos.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9144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Servicios end to end para que tu marca crezca con foco en retorno.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1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1097280" y="2834640"/>
            <a:ext cx="365760" cy="365760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SEO y contenido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0915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4846320" y="2834640"/>
            <a:ext cx="365760" cy="365760"/>
          </a:xfrm>
          <a:prstGeom prst="hexagon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Performance 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2377440"/>
            <a:ext cx="3383280" cy="356616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199" y="26974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8595359" y="2834640"/>
            <a:ext cx="365760" cy="36576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36576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Brand y creatividad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4480560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Armin Grotesk"/>
              </a:rPr>
              <a:t>Estrategia, ejecucion y reporte claro de cada iniciativa.</a:t>
            </a:r>
          </a:p>
        </p:txBody>
      </p:sp>
      <p:pic>
        <p:nvPicPr>
          <p:cNvPr id="20" name="Picture 19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Tendencias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mercado.</a:t>
            </a:r>
          </a:p>
        </p:txBody>
      </p:sp>
      <p:sp>
        <p:nvSpPr>
          <p:cNvPr id="4" name="Oval 3"/>
          <p:cNvSpPr/>
          <p:nvPr/>
        </p:nvSpPr>
        <p:spPr>
          <a:xfrm>
            <a:off x="2743200" y="2468880"/>
            <a:ext cx="2651760" cy="26517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754880" y="2926080"/>
            <a:ext cx="2286000" cy="22860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38328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>
                <a:solidFill>
                  <a:srgbClr val="FFFFFF"/>
                </a:solidFill>
                <a:latin typeface="Armin Grotesk Black"/>
              </a:rPr>
              <a:t>3.8M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6576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Armin Grotesk Black"/>
              </a:rPr>
              <a:t>40.5K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Armin Grotesk SemiBold"/>
              </a:rPr>
              <a:t>ALCANCE
MENSUAL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31089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Armin Grotesk SemiBold"/>
              </a:rPr>
              <a:t>NUEVOS
SEGUIDORES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595360" y="2377440"/>
          <a:ext cx="301752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11" name="Picture 1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Nuestras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soluciones.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0" y="91440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Dos frentes de trabajo que se refuerzan entre 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881360" cy="14173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min Grotesk Black"/>
              </a:rPr>
              <a:t>O1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743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Adquisicion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15468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BE4FF"/>
                </a:solidFill>
                <a:latin typeface="Armin Grotesk"/>
              </a:rPr>
              <a:t>Campanas de performance optimizadas a costo por resultado.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10881360" cy="141732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min Grotesk Black"/>
              </a:rPr>
              <a:t>O2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Retencion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84632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BE4FF"/>
                </a:solidFill>
                <a:latin typeface="Armin Grotesk"/>
              </a:rPr>
              <a:t>Contenido y automatizaciones que sostienen el crecimiento.</a:t>
            </a:r>
          </a:p>
        </p:txBody>
      </p:sp>
      <p:pic>
        <p:nvPicPr>
          <p:cNvPr id="13" name="Picture 1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Herramientas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marketing.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651760"/>
            <a:ext cx="1280160" cy="12801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11556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Audio social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8" name="Oval 7"/>
          <p:cNvSpPr/>
          <p:nvPr/>
        </p:nvSpPr>
        <p:spPr>
          <a:xfrm>
            <a:off x="2971800" y="2651760"/>
            <a:ext cx="1280160" cy="12801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335584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SEO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2651760"/>
            <a:ext cx="1280160" cy="128016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559612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Video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16" name="Oval 15"/>
          <p:cNvSpPr/>
          <p:nvPr/>
        </p:nvSpPr>
        <p:spPr>
          <a:xfrm>
            <a:off x="7452360" y="2651760"/>
            <a:ext cx="1280160" cy="128016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3640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Social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sp>
        <p:nvSpPr>
          <p:cNvPr id="20" name="Oval 19"/>
          <p:cNvSpPr/>
          <p:nvPr/>
        </p:nvSpPr>
        <p:spPr>
          <a:xfrm>
            <a:off x="9692640" y="2651760"/>
            <a:ext cx="1280160" cy="12801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076688" y="3035808"/>
            <a:ext cx="512063" cy="512063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4114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11827"/>
                </a:solidFill>
                <a:latin typeface="Armin Grotesk SemiBold"/>
              </a:rPr>
              <a:t>Automatizacion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470916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min Grotesk"/>
              </a:rPr>
              <a:t>Stack y procesos</a:t>
            </a:r>
          </a:p>
        </p:txBody>
      </p:sp>
      <p:pic>
        <p:nvPicPr>
          <p:cNvPr id="24" name="Picture 2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Opiniones de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clientes.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6012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56DB"/>
                </a:solidFill>
                <a:latin typeface="Armin Grotesk Black"/>
              </a:rPr>
              <a:t>4,890 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0" y="914400"/>
            <a:ext cx="2743200" cy="310896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0" y="976579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0" b="0">
                <a:solidFill>
                  <a:srgbClr val="1A56DB"/>
                </a:solidFill>
                <a:latin typeface="Armin Grotesk Black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0" y="2841955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BB900"/>
                </a:solidFill>
                <a:latin typeface="Armin Grotesk"/>
              </a:rPr>
              <a:t>★ ★ ★ ★ ★</a:t>
            </a:r>
          </a:p>
        </p:txBody>
      </p:sp>
      <p:sp>
        <p:nvSpPr>
          <p:cNvPr id="8" name="Oval 7"/>
          <p:cNvSpPr/>
          <p:nvPr/>
        </p:nvSpPr>
        <p:spPr>
          <a:xfrm>
            <a:off x="11155680" y="3291840"/>
            <a:ext cx="914400" cy="91440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7772400" cy="1234440"/>
          </a:xfrm>
          <a:prstGeom prst="roundRect">
            <a:avLst>
              <a:gd name="adj" fmla="val 10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788920"/>
            <a:ext cx="594360" cy="5943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8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74151"/>
                </a:solidFill>
                <a:latin typeface="Armin Grotesk"/>
              </a:rPr>
              <a:t>El equipo entiende el negocio y entrega resultados claros mes a 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7772400" cy="1234440"/>
          </a:xfrm>
          <a:prstGeom prst="roundRect">
            <a:avLst>
              <a:gd name="adj" fmla="val 10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4206240"/>
            <a:ext cx="594360" cy="59436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41148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Armin Grotesk"/>
              </a:rPr>
              <a:t>El equipo entiende el negocio y entrega resultados claros mes a mes.</a:t>
            </a:r>
          </a:p>
        </p:txBody>
      </p:sp>
      <p:pic>
        <p:nvPicPr>
          <p:cNvPr id="15" name="Picture 1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Nueva via del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exito.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2926080" cy="3291840"/>
          </a:xfrm>
          <a:prstGeom prst="roundRect">
            <a:avLst>
              <a:gd name="adj" fmla="val 6000"/>
            </a:avLst>
          </a:prstGeom>
          <a:solidFill>
            <a:srgbClr val="D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3817" y="3588105"/>
            <a:ext cx="1119225" cy="1119225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90902" y="4048963"/>
            <a:ext cx="724204" cy="724204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44598" y="4641494"/>
            <a:ext cx="427939" cy="427939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2454249" y="3258921"/>
            <a:ext cx="559612" cy="559612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023360" y="2377440"/>
            <a:ext cx="777240" cy="77724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4261104" y="261518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4140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6700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Diagnostico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14" name="Oval 13"/>
          <p:cNvSpPr/>
          <p:nvPr/>
        </p:nvSpPr>
        <p:spPr>
          <a:xfrm>
            <a:off x="7589520" y="2377440"/>
            <a:ext cx="777240" cy="77724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7827264" y="261518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4140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7004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Estrategia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0" y="4114800"/>
            <a:ext cx="777240" cy="77724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4261104" y="435254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4151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4407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Ejecucion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7731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sp>
        <p:nvSpPr>
          <p:cNvPr id="24" name="Oval 23"/>
          <p:cNvSpPr/>
          <p:nvPr/>
        </p:nvSpPr>
        <p:spPr>
          <a:xfrm>
            <a:off x="7589520" y="4114800"/>
            <a:ext cx="777240" cy="77724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7827264" y="4352544"/>
            <a:ext cx="310896" cy="310896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4151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O5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407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Optimizacion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47731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Paso del proceso con foco en dato.</a:t>
            </a:r>
          </a:p>
        </p:txBody>
      </p:sp>
      <p:pic>
        <p:nvPicPr>
          <p:cNvPr id="29" name="Picture 28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11827"/>
                </a:solidFill>
                <a:latin typeface="Armin Grotesk Black"/>
              </a:rPr>
              <a:t>Plan de estrategia
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de marketing.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097280"/>
            <a:ext cx="4754880" cy="9144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840" y="10972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Objetivos y KPIs del trimestre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2286000"/>
            <a:ext cx="4206240" cy="91440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2286000"/>
            <a:ext cx="3566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Mensajes y audiencias clave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47472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347472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min Grotesk SemiBold"/>
              </a:rPr>
              <a:t>Mezcla de canales y presupuesto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6634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466344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74151"/>
                </a:solidFill>
                <a:latin typeface="Armin Grotesk SemiBold"/>
              </a:rPr>
              <a:t>Calendario y responsables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42062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7280"/>
                </a:solidFill>
                <a:latin typeface="Armin Grotesk"/>
              </a:rPr>
              <a:t>Un plan claro, por fases, con metas medibles y duenos definidos en cada etapa.</a:t>
            </a:r>
          </a:p>
        </p:txBody>
      </p:sp>
      <p:pic>
        <p:nvPicPr>
          <p:cNvPr id="13" name="Picture 1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51560" cy="125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1430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Crece con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10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FFFFFF"/>
                </a:solidFill>
                <a:latin typeface="Armin Grotesk Black"/>
              </a:rPr>
              <a:t>+58%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743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BE4FF"/>
                </a:solidFill>
                <a:latin typeface="Armin Grotesk"/>
              </a:rPr>
              <a:t>Crecimiento interanual promedio</a:t>
            </a:r>
          </a:p>
        </p:txBody>
      </p:sp>
      <p:sp>
        <p:nvSpPr>
          <p:cNvPr id="7" name="Oval 6"/>
          <p:cNvSpPr/>
          <p:nvPr/>
        </p:nvSpPr>
        <p:spPr>
          <a:xfrm>
            <a:off x="6766560" y="484632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863840" y="448056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0" y="457200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0" y="402336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972800" y="3657600"/>
            <a:ext cx="146304" cy="146304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1A56DB"/>
                </a:solidFill>
                <a:latin typeface="Armin Grotesk Black"/>
              </a:rPr>
              <a:t>100K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6796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LEADS GENERADOS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111827"/>
                </a:solidFill>
                <a:latin typeface="Armin Grotesk Black"/>
              </a:rPr>
              <a:t>0.2M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3100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VENTAS ATRIBUIDAS</a:t>
            </a:r>
          </a:p>
        </p:txBody>
      </p:sp>
      <p:sp>
        <p:nvSpPr>
          <p:cNvPr id="16" name="Oval 15"/>
          <p:cNvSpPr/>
          <p:nvPr/>
        </p:nvSpPr>
        <p:spPr>
          <a:xfrm>
            <a:off x="4480560" y="1371600"/>
            <a:ext cx="640080" cy="6400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7432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731520"/>
            <a:ext cx="2011680" cy="2011680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1645920"/>
            <a:ext cx="1280160" cy="128016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petual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1371600" cy="1640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463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463040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spc="80">
                <a:solidFill>
                  <a:srgbClr val="1A56DB"/>
                </a:solidFill>
                <a:latin typeface="Armin Grotesk SemiBold"/>
              </a:rPr>
              <a:t>EMPEZAR</a:t>
            </a:r>
          </a:p>
        </p:txBody>
      </p:sp>
      <p:sp>
        <p:nvSpPr>
          <p:cNvPr id="8" name="Oval 7"/>
          <p:cNvSpPr/>
          <p:nvPr/>
        </p:nvSpPr>
        <p:spPr>
          <a:xfrm>
            <a:off x="2706624" y="1554480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151790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Armin Grotesk Black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41732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Hablemos de tu proxima campana.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832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11827"/>
                </a:solidFill>
                <a:latin typeface="Armin Grotesk Black"/>
              </a:rPr>
              <a:t>Contac</a:t>
            </a:r>
            <a:r>
              <a:rPr sz="4000" b="0">
                <a:solidFill>
                  <a:srgbClr val="1A56DB"/>
                </a:solidFill>
                <a:latin typeface="Armin Grotesk Black"/>
              </a:rPr>
              <a:t>tanos.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CORREO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hola@perpetual.pe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TELEFONO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+51 999 999 999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937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56DB"/>
                </a:solidFill>
                <a:latin typeface="Armin Grotesk SemiBold"/>
              </a:rPr>
              <a:t>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5257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perpetual.pe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0" y="5120640"/>
            <a:ext cx="914400" cy="914400"/>
          </a:xfrm>
          <a:prstGeom prst="ellipse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